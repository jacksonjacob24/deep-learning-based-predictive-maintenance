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2"/>
  </p:notesMasterIdLst>
  <p:sldIdLst>
    <p:sldId id="256" r:id="rId2"/>
    <p:sldId id="257" r:id="rId3"/>
    <p:sldId id="271" r:id="rId4"/>
    <p:sldId id="258" r:id="rId5"/>
    <p:sldId id="259" r:id="rId6"/>
    <p:sldId id="272" r:id="rId7"/>
    <p:sldId id="260" r:id="rId8"/>
    <p:sldId id="261" r:id="rId9"/>
    <p:sldId id="262" r:id="rId10"/>
    <p:sldId id="263" r:id="rId11"/>
    <p:sldId id="264" r:id="rId12"/>
    <p:sldId id="265" r:id="rId13"/>
    <p:sldId id="266" r:id="rId14"/>
    <p:sldId id="274" r:id="rId15"/>
    <p:sldId id="275" r:id="rId16"/>
    <p:sldId id="276" r:id="rId17"/>
    <p:sldId id="267" r:id="rId18"/>
    <p:sldId id="269" r:id="rId19"/>
    <p:sldId id="273" r:id="rId20"/>
    <p:sldId id="27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j2/hhuwKmITLi34coKuV9gvvc1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74356C-3A54-4400-A68D-32DD07B77559}" v="3" dt="2026-05-08T15:31:19.310"/>
  </p1510:revLst>
</p1510:revInfo>
</file>

<file path=ppt/tableStyles.xml><?xml version="1.0" encoding="utf-8"?>
<a:tblStyleLst xmlns:a="http://schemas.openxmlformats.org/drawingml/2006/main" def="{DD6EE30B-C028-4789-B6E4-0BFFCBE8230D}">
  <a:tblStyle styleId="{DD6EE30B-C028-4789-B6E4-0BFFCBE8230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161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son jacob" userId="014e59649c5a9377" providerId="LiveId" clId="{5702DF46-22AC-410D-B259-0B2C2EF76CBE}"/>
    <pc:docChg chg="undo custSel addSld delSld modSld">
      <pc:chgData name="jackson jacob" userId="014e59649c5a9377" providerId="LiveId" clId="{5702DF46-22AC-410D-B259-0B2C2EF76CBE}" dt="2026-05-09T04:26:53.366" v="345" actId="1076"/>
      <pc:docMkLst>
        <pc:docMk/>
      </pc:docMkLst>
      <pc:sldChg chg="modSp mod">
        <pc:chgData name="jackson jacob" userId="014e59649c5a9377" providerId="LiveId" clId="{5702DF46-22AC-410D-B259-0B2C2EF76CBE}" dt="2026-05-08T14:57:36.846" v="97" actId="20577"/>
        <pc:sldMkLst>
          <pc:docMk/>
          <pc:sldMk cId="0" sldId="256"/>
        </pc:sldMkLst>
        <pc:spChg chg="mod">
          <ac:chgData name="jackson jacob" userId="014e59649c5a9377" providerId="LiveId" clId="{5702DF46-22AC-410D-B259-0B2C2EF76CBE}" dt="2026-05-08T09:23:57.550" v="20" actId="1076"/>
          <ac:spMkLst>
            <pc:docMk/>
            <pc:sldMk cId="0" sldId="256"/>
            <ac:spMk id="2" creationId="{B795CFE7-2FA6-2753-2ED9-6E92A07504FD}"/>
          </ac:spMkLst>
        </pc:spChg>
        <pc:spChg chg="mod">
          <ac:chgData name="jackson jacob" userId="014e59649c5a9377" providerId="LiveId" clId="{5702DF46-22AC-410D-B259-0B2C2EF76CBE}" dt="2026-05-08T14:57:36.846" v="97" actId="20577"/>
          <ac:spMkLst>
            <pc:docMk/>
            <pc:sldMk cId="0" sldId="256"/>
            <ac:spMk id="88" creationId="{00000000-0000-0000-0000-000000000000}"/>
          </ac:spMkLst>
        </pc:spChg>
      </pc:sldChg>
      <pc:sldChg chg="modSp mod">
        <pc:chgData name="jackson jacob" userId="014e59649c5a9377" providerId="LiveId" clId="{5702DF46-22AC-410D-B259-0B2C2EF76CBE}" dt="2026-05-08T15:01:27.671" v="109" actId="255"/>
        <pc:sldMkLst>
          <pc:docMk/>
          <pc:sldMk cId="0" sldId="257"/>
        </pc:sldMkLst>
        <pc:spChg chg="mod">
          <ac:chgData name="jackson jacob" userId="014e59649c5a9377" providerId="LiveId" clId="{5702DF46-22AC-410D-B259-0B2C2EF76CBE}" dt="2026-05-08T15:01:27.671" v="109" actId="255"/>
          <ac:spMkLst>
            <pc:docMk/>
            <pc:sldMk cId="0" sldId="257"/>
            <ac:spMk id="4" creationId="{217657E9-4393-C0DE-2AD9-78DDE34C67B6}"/>
          </ac:spMkLst>
        </pc:spChg>
      </pc:sldChg>
      <pc:sldChg chg="modSp mod">
        <pc:chgData name="jackson jacob" userId="014e59649c5a9377" providerId="LiveId" clId="{5702DF46-22AC-410D-B259-0B2C2EF76CBE}" dt="2026-05-08T15:02:44.712" v="118" actId="255"/>
        <pc:sldMkLst>
          <pc:docMk/>
          <pc:sldMk cId="0" sldId="258"/>
        </pc:sldMkLst>
        <pc:spChg chg="mod">
          <ac:chgData name="jackson jacob" userId="014e59649c5a9377" providerId="LiveId" clId="{5702DF46-22AC-410D-B259-0B2C2EF76CBE}" dt="2026-05-08T15:02:44.712" v="118" actId="255"/>
          <ac:spMkLst>
            <pc:docMk/>
            <pc:sldMk cId="0" sldId="258"/>
            <ac:spMk id="3" creationId="{78B85469-BB8C-14B2-3E4A-E2834F9A3714}"/>
          </ac:spMkLst>
        </pc:spChg>
      </pc:sldChg>
      <pc:sldChg chg="modSp mod">
        <pc:chgData name="jackson jacob" userId="014e59649c5a9377" providerId="LiveId" clId="{5702DF46-22AC-410D-B259-0B2C2EF76CBE}" dt="2026-05-08T15:38:01.528" v="283" actId="20577"/>
        <pc:sldMkLst>
          <pc:docMk/>
          <pc:sldMk cId="0" sldId="260"/>
        </pc:sldMkLst>
        <pc:spChg chg="mod">
          <ac:chgData name="jackson jacob" userId="014e59649c5a9377" providerId="LiveId" clId="{5702DF46-22AC-410D-B259-0B2C2EF76CBE}" dt="2026-05-08T15:38:01.528" v="283" actId="20577"/>
          <ac:spMkLst>
            <pc:docMk/>
            <pc:sldMk cId="0" sldId="260"/>
            <ac:spMk id="116" creationId="{00000000-0000-0000-0000-000000000000}"/>
          </ac:spMkLst>
        </pc:spChg>
      </pc:sldChg>
      <pc:sldChg chg="modSp mod">
        <pc:chgData name="jackson jacob" userId="014e59649c5a9377" providerId="LiveId" clId="{5702DF46-22AC-410D-B259-0B2C2EF76CBE}" dt="2026-05-08T15:03:57.722" v="127" actId="14100"/>
        <pc:sldMkLst>
          <pc:docMk/>
          <pc:sldMk cId="0" sldId="261"/>
        </pc:sldMkLst>
        <pc:spChg chg="mod">
          <ac:chgData name="jackson jacob" userId="014e59649c5a9377" providerId="LiveId" clId="{5702DF46-22AC-410D-B259-0B2C2EF76CBE}" dt="2026-05-08T15:03:43.146" v="125" actId="14100"/>
          <ac:spMkLst>
            <pc:docMk/>
            <pc:sldMk cId="0" sldId="261"/>
            <ac:spMk id="122" creationId="{00000000-0000-0000-0000-000000000000}"/>
          </ac:spMkLst>
        </pc:spChg>
        <pc:spChg chg="mod">
          <ac:chgData name="jackson jacob" userId="014e59649c5a9377" providerId="LiveId" clId="{5702DF46-22AC-410D-B259-0B2C2EF76CBE}" dt="2026-05-08T15:03:57.722" v="127" actId="14100"/>
          <ac:spMkLst>
            <pc:docMk/>
            <pc:sldMk cId="0" sldId="261"/>
            <ac:spMk id="123" creationId="{00000000-0000-0000-0000-000000000000}"/>
          </ac:spMkLst>
        </pc:spChg>
      </pc:sldChg>
      <pc:sldChg chg="modSp mod">
        <pc:chgData name="jackson jacob" userId="014e59649c5a9377" providerId="LiveId" clId="{5702DF46-22AC-410D-B259-0B2C2EF76CBE}" dt="2026-05-08T15:04:58.948" v="136" actId="14100"/>
        <pc:sldMkLst>
          <pc:docMk/>
          <pc:sldMk cId="0" sldId="262"/>
        </pc:sldMkLst>
        <pc:spChg chg="mod">
          <ac:chgData name="jackson jacob" userId="014e59649c5a9377" providerId="LiveId" clId="{5702DF46-22AC-410D-B259-0B2C2EF76CBE}" dt="2026-05-08T15:04:19.411" v="129" actId="14100"/>
          <ac:spMkLst>
            <pc:docMk/>
            <pc:sldMk cId="0" sldId="262"/>
            <ac:spMk id="129" creationId="{00000000-0000-0000-0000-000000000000}"/>
          </ac:spMkLst>
        </pc:spChg>
        <pc:spChg chg="mod">
          <ac:chgData name="jackson jacob" userId="014e59649c5a9377" providerId="LiveId" clId="{5702DF46-22AC-410D-B259-0B2C2EF76CBE}" dt="2026-05-08T15:04:58.948" v="136" actId="14100"/>
          <ac:spMkLst>
            <pc:docMk/>
            <pc:sldMk cId="0" sldId="262"/>
            <ac:spMk id="130" creationId="{00000000-0000-0000-0000-000000000000}"/>
          </ac:spMkLst>
        </pc:spChg>
      </pc:sldChg>
      <pc:sldChg chg="modSp mod">
        <pc:chgData name="jackson jacob" userId="014e59649c5a9377" providerId="LiveId" clId="{5702DF46-22AC-410D-B259-0B2C2EF76CBE}" dt="2026-05-08T15:06:16.342" v="148" actId="255"/>
        <pc:sldMkLst>
          <pc:docMk/>
          <pc:sldMk cId="0" sldId="263"/>
        </pc:sldMkLst>
        <pc:spChg chg="mod">
          <ac:chgData name="jackson jacob" userId="014e59649c5a9377" providerId="LiveId" clId="{5702DF46-22AC-410D-B259-0B2C2EF76CBE}" dt="2026-05-08T15:06:16.342" v="148" actId="255"/>
          <ac:spMkLst>
            <pc:docMk/>
            <pc:sldMk cId="0" sldId="263"/>
            <ac:spMk id="137" creationId="{00000000-0000-0000-0000-000000000000}"/>
          </ac:spMkLst>
        </pc:spChg>
      </pc:sldChg>
      <pc:sldChg chg="modSp mod">
        <pc:chgData name="jackson jacob" userId="014e59649c5a9377" providerId="LiveId" clId="{5702DF46-22AC-410D-B259-0B2C2EF76CBE}" dt="2026-05-08T15:07:29.993" v="152" actId="1076"/>
        <pc:sldMkLst>
          <pc:docMk/>
          <pc:sldMk cId="0" sldId="265"/>
        </pc:sldMkLst>
        <pc:spChg chg="mod">
          <ac:chgData name="jackson jacob" userId="014e59649c5a9377" providerId="LiveId" clId="{5702DF46-22AC-410D-B259-0B2C2EF76CBE}" dt="2026-05-08T15:07:16.463" v="150" actId="14100"/>
          <ac:spMkLst>
            <pc:docMk/>
            <pc:sldMk cId="0" sldId="265"/>
            <ac:spMk id="150" creationId="{00000000-0000-0000-0000-000000000000}"/>
          </ac:spMkLst>
        </pc:spChg>
        <pc:spChg chg="mod">
          <ac:chgData name="jackson jacob" userId="014e59649c5a9377" providerId="LiveId" clId="{5702DF46-22AC-410D-B259-0B2C2EF76CBE}" dt="2026-05-08T15:07:29.993" v="152" actId="1076"/>
          <ac:spMkLst>
            <pc:docMk/>
            <pc:sldMk cId="0" sldId="265"/>
            <ac:spMk id="151" creationId="{00000000-0000-0000-0000-000000000000}"/>
          </ac:spMkLst>
        </pc:spChg>
      </pc:sldChg>
      <pc:sldChg chg="addSp delSp modSp mod">
        <pc:chgData name="jackson jacob" userId="014e59649c5a9377" providerId="LiveId" clId="{5702DF46-22AC-410D-B259-0B2C2EF76CBE}" dt="2026-05-08T15:00:14.259" v="105" actId="1076"/>
        <pc:sldMkLst>
          <pc:docMk/>
          <pc:sldMk cId="0" sldId="266"/>
        </pc:sldMkLst>
        <pc:spChg chg="add del mod">
          <ac:chgData name="jackson jacob" userId="014e59649c5a9377" providerId="LiveId" clId="{5702DF46-22AC-410D-B259-0B2C2EF76CBE}" dt="2026-05-08T15:00:05.792" v="103" actId="478"/>
          <ac:spMkLst>
            <pc:docMk/>
            <pc:sldMk cId="0" sldId="266"/>
            <ac:spMk id="5" creationId="{A324F416-F3C2-2C25-511A-9E7E026596D5}"/>
          </ac:spMkLst>
        </pc:spChg>
        <pc:spChg chg="del">
          <ac:chgData name="jackson jacob" userId="014e59649c5a9377" providerId="LiveId" clId="{5702DF46-22AC-410D-B259-0B2C2EF76CBE}" dt="2026-05-08T14:59:57.897" v="102" actId="478"/>
          <ac:spMkLst>
            <pc:docMk/>
            <pc:sldMk cId="0" sldId="266"/>
            <ac:spMk id="157" creationId="{00000000-0000-0000-0000-000000000000}"/>
          </ac:spMkLst>
        </pc:spChg>
        <pc:spChg chg="del mod">
          <ac:chgData name="jackson jacob" userId="014e59649c5a9377" providerId="LiveId" clId="{5702DF46-22AC-410D-B259-0B2C2EF76CBE}" dt="2026-05-08T14:59:53.033" v="101"/>
          <ac:spMkLst>
            <pc:docMk/>
            <pc:sldMk cId="0" sldId="266"/>
            <ac:spMk id="158" creationId="{00000000-0000-0000-0000-000000000000}"/>
          </ac:spMkLst>
        </pc:spChg>
        <pc:picChg chg="add mod ord">
          <ac:chgData name="jackson jacob" userId="014e59649c5a9377" providerId="LiveId" clId="{5702DF46-22AC-410D-B259-0B2C2EF76CBE}" dt="2026-05-08T15:00:14.259" v="105" actId="1076"/>
          <ac:picMkLst>
            <pc:docMk/>
            <pc:sldMk cId="0" sldId="266"/>
            <ac:picMk id="3" creationId="{707AC3F9-3DE8-2CD7-EEB5-3E7FCFB1DA86}"/>
          </ac:picMkLst>
        </pc:picChg>
      </pc:sldChg>
      <pc:sldChg chg="modSp mod">
        <pc:chgData name="jackson jacob" userId="014e59649c5a9377" providerId="LiveId" clId="{5702DF46-22AC-410D-B259-0B2C2EF76CBE}" dt="2026-05-08T14:09:22.504" v="57" actId="5793"/>
        <pc:sldMkLst>
          <pc:docMk/>
          <pc:sldMk cId="0" sldId="267"/>
        </pc:sldMkLst>
        <pc:spChg chg="mod">
          <ac:chgData name="jackson jacob" userId="014e59649c5a9377" providerId="LiveId" clId="{5702DF46-22AC-410D-B259-0B2C2EF76CBE}" dt="2026-05-08T14:09:22.504" v="57" actId="5793"/>
          <ac:spMkLst>
            <pc:docMk/>
            <pc:sldMk cId="0" sldId="267"/>
            <ac:spMk id="165" creationId="{00000000-0000-0000-0000-000000000000}"/>
          </ac:spMkLst>
        </pc:spChg>
      </pc:sldChg>
      <pc:sldChg chg="modSp mod">
        <pc:chgData name="jackson jacob" userId="014e59649c5a9377" providerId="LiveId" clId="{5702DF46-22AC-410D-B259-0B2C2EF76CBE}" dt="2026-05-08T15:20:32.135" v="225" actId="20577"/>
        <pc:sldMkLst>
          <pc:docMk/>
          <pc:sldMk cId="0" sldId="269"/>
        </pc:sldMkLst>
        <pc:spChg chg="mod">
          <ac:chgData name="jackson jacob" userId="014e59649c5a9377" providerId="LiveId" clId="{5702DF46-22AC-410D-B259-0B2C2EF76CBE}" dt="2026-05-08T15:20:32.135" v="225" actId="20577"/>
          <ac:spMkLst>
            <pc:docMk/>
            <pc:sldMk cId="0" sldId="269"/>
            <ac:spMk id="179" creationId="{00000000-0000-0000-0000-000000000000}"/>
          </ac:spMkLst>
        </pc:spChg>
      </pc:sldChg>
      <pc:sldChg chg="modSp mod">
        <pc:chgData name="jackson jacob" userId="014e59649c5a9377" providerId="LiveId" clId="{5702DF46-22AC-410D-B259-0B2C2EF76CBE}" dt="2026-05-08T15:21:18.111" v="229" actId="20577"/>
        <pc:sldMkLst>
          <pc:docMk/>
          <pc:sldMk cId="1910735896" sldId="271"/>
        </pc:sldMkLst>
        <pc:spChg chg="mod">
          <ac:chgData name="jackson jacob" userId="014e59649c5a9377" providerId="LiveId" clId="{5702DF46-22AC-410D-B259-0B2C2EF76CBE}" dt="2026-05-08T15:21:18.111" v="229" actId="20577"/>
          <ac:spMkLst>
            <pc:docMk/>
            <pc:sldMk cId="1910735896" sldId="271"/>
            <ac:spMk id="2" creationId="{171791DD-C65B-EFE3-02DF-BA50AC235FAC}"/>
          </ac:spMkLst>
        </pc:spChg>
      </pc:sldChg>
      <pc:sldChg chg="delSp modSp new mod">
        <pc:chgData name="jackson jacob" userId="014e59649c5a9377" providerId="LiveId" clId="{5702DF46-22AC-410D-B259-0B2C2EF76CBE}" dt="2026-05-08T16:07:37.323" v="313" actId="20577"/>
        <pc:sldMkLst>
          <pc:docMk/>
          <pc:sldMk cId="1561609516" sldId="273"/>
        </pc:sldMkLst>
        <pc:spChg chg="del">
          <ac:chgData name="jackson jacob" userId="014e59649c5a9377" providerId="LiveId" clId="{5702DF46-22AC-410D-B259-0B2C2EF76CBE}" dt="2026-05-08T15:27:20.090" v="233" actId="478"/>
          <ac:spMkLst>
            <pc:docMk/>
            <pc:sldMk cId="1561609516" sldId="273"/>
            <ac:spMk id="2" creationId="{FC589EBD-376A-3FD1-4E0E-56FBA0F3DC24}"/>
          </ac:spMkLst>
        </pc:spChg>
        <pc:spChg chg="mod">
          <ac:chgData name="jackson jacob" userId="014e59649c5a9377" providerId="LiveId" clId="{5702DF46-22AC-410D-B259-0B2C2EF76CBE}" dt="2026-05-08T16:07:37.323" v="313" actId="20577"/>
          <ac:spMkLst>
            <pc:docMk/>
            <pc:sldMk cId="1561609516" sldId="273"/>
            <ac:spMk id="3" creationId="{2CA976D2-62A4-9D81-A6A7-C6C3682E97BB}"/>
          </ac:spMkLst>
        </pc:spChg>
      </pc:sldChg>
      <pc:sldChg chg="new del">
        <pc:chgData name="jackson jacob" userId="014e59649c5a9377" providerId="LiveId" clId="{5702DF46-22AC-410D-B259-0B2C2EF76CBE}" dt="2026-05-08T15:27:08.880" v="231" actId="2696"/>
        <pc:sldMkLst>
          <pc:docMk/>
          <pc:sldMk cId="1653891217" sldId="273"/>
        </pc:sldMkLst>
      </pc:sldChg>
      <pc:sldChg chg="delSp del mod">
        <pc:chgData name="jackson jacob" userId="014e59649c5a9377" providerId="LiveId" clId="{5702DF46-22AC-410D-B259-0B2C2EF76CBE}" dt="2026-05-08T14:46:32.527" v="95" actId="2696"/>
        <pc:sldMkLst>
          <pc:docMk/>
          <pc:sldMk cId="2629027627" sldId="273"/>
        </pc:sldMkLst>
        <pc:picChg chg="del">
          <ac:chgData name="jackson jacob" userId="014e59649c5a9377" providerId="LiveId" clId="{5702DF46-22AC-410D-B259-0B2C2EF76CBE}" dt="2026-05-08T14:45:58.507" v="94" actId="478"/>
          <ac:picMkLst>
            <pc:docMk/>
            <pc:sldMk cId="2629027627" sldId="273"/>
            <ac:picMk id="3" creationId="{A6579150-6E8D-3152-1503-1C09217AA095}"/>
          </ac:picMkLst>
        </pc:picChg>
      </pc:sldChg>
      <pc:sldChg chg="addSp delSp modSp new mod">
        <pc:chgData name="jackson jacob" userId="014e59649c5a9377" providerId="LiveId" clId="{5702DF46-22AC-410D-B259-0B2C2EF76CBE}" dt="2026-05-09T04:24:50.244" v="331" actId="14100"/>
        <pc:sldMkLst>
          <pc:docMk/>
          <pc:sldMk cId="3748377051" sldId="274"/>
        </pc:sldMkLst>
        <pc:spChg chg="mod">
          <ac:chgData name="jackson jacob" userId="014e59649c5a9377" providerId="LiveId" clId="{5702DF46-22AC-410D-B259-0B2C2EF76CBE}" dt="2026-05-09T04:24:35.584" v="329" actId="14100"/>
          <ac:spMkLst>
            <pc:docMk/>
            <pc:sldMk cId="3748377051" sldId="274"/>
            <ac:spMk id="2" creationId="{0E55AE0F-3C1A-E894-157D-E37064131B79}"/>
          </ac:spMkLst>
        </pc:spChg>
        <pc:spChg chg="del">
          <ac:chgData name="jackson jacob" userId="014e59649c5a9377" providerId="LiveId" clId="{5702DF46-22AC-410D-B259-0B2C2EF76CBE}" dt="2026-05-09T04:24:29.295" v="328"/>
          <ac:spMkLst>
            <pc:docMk/>
            <pc:sldMk cId="3748377051" sldId="274"/>
            <ac:spMk id="3" creationId="{4F36D2B6-28A5-3C85-4CDE-DDFF89889535}"/>
          </ac:spMkLst>
        </pc:spChg>
        <pc:picChg chg="add mod ord">
          <ac:chgData name="jackson jacob" userId="014e59649c5a9377" providerId="LiveId" clId="{5702DF46-22AC-410D-B259-0B2C2EF76CBE}" dt="2026-05-09T04:24:50.244" v="331" actId="14100"/>
          <ac:picMkLst>
            <pc:docMk/>
            <pc:sldMk cId="3748377051" sldId="274"/>
            <ac:picMk id="5" creationId="{D23DE87A-8B52-4E9C-43F3-98F00A3A4FFE}"/>
          </ac:picMkLst>
        </pc:picChg>
      </pc:sldChg>
      <pc:sldChg chg="new del">
        <pc:chgData name="jackson jacob" userId="014e59649c5a9377" providerId="LiveId" clId="{5702DF46-22AC-410D-B259-0B2C2EF76CBE}" dt="2026-05-09T04:25:04.388" v="333" actId="2696"/>
        <pc:sldMkLst>
          <pc:docMk/>
          <pc:sldMk cId="932684080" sldId="275"/>
        </pc:sldMkLst>
      </pc:sldChg>
      <pc:sldChg chg="addSp delSp modSp new mod">
        <pc:chgData name="jackson jacob" userId="014e59649c5a9377" providerId="LiveId" clId="{5702DF46-22AC-410D-B259-0B2C2EF76CBE}" dt="2026-05-09T04:25:44.875" v="339" actId="1076"/>
        <pc:sldMkLst>
          <pc:docMk/>
          <pc:sldMk cId="1185032113" sldId="275"/>
        </pc:sldMkLst>
        <pc:spChg chg="del">
          <ac:chgData name="jackson jacob" userId="014e59649c5a9377" providerId="LiveId" clId="{5702DF46-22AC-410D-B259-0B2C2EF76CBE}" dt="2026-05-09T04:25:16.691" v="335" actId="478"/>
          <ac:spMkLst>
            <pc:docMk/>
            <pc:sldMk cId="1185032113" sldId="275"/>
            <ac:spMk id="2" creationId="{1529A014-9FCE-0F4B-8921-F5F3B1BB06B5}"/>
          </ac:spMkLst>
        </pc:spChg>
        <pc:spChg chg="del">
          <ac:chgData name="jackson jacob" userId="014e59649c5a9377" providerId="LiveId" clId="{5702DF46-22AC-410D-B259-0B2C2EF76CBE}" dt="2026-05-09T04:25:31.459" v="337"/>
          <ac:spMkLst>
            <pc:docMk/>
            <pc:sldMk cId="1185032113" sldId="275"/>
            <ac:spMk id="3" creationId="{6CE9B2B7-2F2E-20EA-E687-A60E4ED3DC14}"/>
          </ac:spMkLst>
        </pc:spChg>
        <pc:picChg chg="add mod ord">
          <ac:chgData name="jackson jacob" userId="014e59649c5a9377" providerId="LiveId" clId="{5702DF46-22AC-410D-B259-0B2C2EF76CBE}" dt="2026-05-09T04:25:44.875" v="339" actId="1076"/>
          <ac:picMkLst>
            <pc:docMk/>
            <pc:sldMk cId="1185032113" sldId="275"/>
            <ac:picMk id="5" creationId="{3E1EFDEF-1092-0E69-3B4C-64D372E3086F}"/>
          </ac:picMkLst>
        </pc:picChg>
      </pc:sldChg>
      <pc:sldChg chg="addSp delSp modSp new mod">
        <pc:chgData name="jackson jacob" userId="014e59649c5a9377" providerId="LiveId" clId="{5702DF46-22AC-410D-B259-0B2C2EF76CBE}" dt="2026-05-09T04:26:53.366" v="345" actId="1076"/>
        <pc:sldMkLst>
          <pc:docMk/>
          <pc:sldMk cId="3387860625" sldId="276"/>
        </pc:sldMkLst>
        <pc:spChg chg="del">
          <ac:chgData name="jackson jacob" userId="014e59649c5a9377" providerId="LiveId" clId="{5702DF46-22AC-410D-B259-0B2C2EF76CBE}" dt="2026-05-09T04:26:30.176" v="341" actId="478"/>
          <ac:spMkLst>
            <pc:docMk/>
            <pc:sldMk cId="3387860625" sldId="276"/>
            <ac:spMk id="2" creationId="{7C503E4D-A4E1-D1FD-57FD-33FFFC05CE89}"/>
          </ac:spMkLst>
        </pc:spChg>
        <pc:spChg chg="del">
          <ac:chgData name="jackson jacob" userId="014e59649c5a9377" providerId="LiveId" clId="{5702DF46-22AC-410D-B259-0B2C2EF76CBE}" dt="2026-05-09T04:26:42.968" v="343"/>
          <ac:spMkLst>
            <pc:docMk/>
            <pc:sldMk cId="3387860625" sldId="276"/>
            <ac:spMk id="3" creationId="{6C19B738-9CB9-1665-77BC-DBC25D719A31}"/>
          </ac:spMkLst>
        </pc:spChg>
        <pc:picChg chg="add mod ord">
          <ac:chgData name="jackson jacob" userId="014e59649c5a9377" providerId="LiveId" clId="{5702DF46-22AC-410D-B259-0B2C2EF76CBE}" dt="2026-05-09T04:26:53.366" v="345" actId="1076"/>
          <ac:picMkLst>
            <pc:docMk/>
            <pc:sldMk cId="3387860625" sldId="276"/>
            <ac:picMk id="5" creationId="{BD7AB554-F78D-69B4-CF21-66DD74A3CDF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83141242-6113-4B82-1A9D-FC8858820283}"/>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DDCF070D-E8E7-A5DC-A4AB-8001947A7ED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1" name="Google Shape;91;p2:notes">
            <a:extLst>
              <a:ext uri="{FF2B5EF4-FFF2-40B4-BE49-F238E27FC236}">
                <a16:creationId xmlns:a16="http://schemas.microsoft.com/office/drawing/2014/main" id="{6EB3E5BC-CB63-B4D0-0A1A-655C42A981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AF7DC1F7-3CA3-823D-9D99-9CED0E6C416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extLst>
      <p:ext uri="{BB962C8B-B14F-4D97-AF65-F5344CB8AC3E}">
        <p14:creationId xmlns:p14="http://schemas.microsoft.com/office/powerpoint/2010/main" val="3373231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what are all the problems/gaps in your problem area</a:t>
            </a:r>
            <a:endParaRPr/>
          </a:p>
        </p:txBody>
      </p:sp>
      <p:sp>
        <p:nvSpPr>
          <p:cNvPr id="99" name="Google Shape;99;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5"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dirty="0"/>
              <a:t>In a tabular format, brief 5 references, which are closely related to your work. Citations and references should be in IEEE format</a:t>
            </a:r>
            <a:endParaRPr dirty="0"/>
          </a:p>
        </p:txBody>
      </p:sp>
      <p:sp>
        <p:nvSpPr>
          <p:cNvPr id="106" name="Google Shape;106;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2" name="Google Shape;11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down the objectives of your project as bulleted points. Max 3.</a:t>
            </a:r>
            <a:endParaRPr/>
          </a:p>
          <a:p>
            <a:pPr marL="0" lvl="0" indent="0" algn="l" rtl="0">
              <a:spcBef>
                <a:spcPts val="0"/>
              </a:spcBef>
              <a:spcAft>
                <a:spcPts val="0"/>
              </a:spcAft>
              <a:buNone/>
            </a:pPr>
            <a:r>
              <a:rPr lang="en-IN"/>
              <a:t>This includes the whole work of Phase I and Phase II</a:t>
            </a:r>
            <a:endParaRPr/>
          </a:p>
        </p:txBody>
      </p:sp>
      <p:sp>
        <p:nvSpPr>
          <p:cNvPr id="113" name="Google Shape;113;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9" name="Google Shape;11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Give the below details of the data</a:t>
            </a:r>
            <a:endParaRPr/>
          </a:p>
          <a:p>
            <a:pPr marL="228600" lvl="0" indent="-228600" algn="l" rtl="0">
              <a:spcBef>
                <a:spcPts val="0"/>
              </a:spcBef>
              <a:spcAft>
                <a:spcPts val="0"/>
              </a:spcAft>
              <a:buClr>
                <a:schemeClr val="dk1"/>
              </a:buClr>
              <a:buSzPts val="1200"/>
              <a:buFont typeface="Calibri"/>
              <a:buAutoNum type="arabicPeriod"/>
            </a:pPr>
            <a:r>
              <a:rPr lang="en-IN"/>
              <a:t>Source of Data</a:t>
            </a:r>
            <a:endParaRPr/>
          </a:p>
          <a:p>
            <a:pPr marL="228600" lvl="0" indent="-228600" algn="l" rtl="0">
              <a:spcBef>
                <a:spcPts val="0"/>
              </a:spcBef>
              <a:spcAft>
                <a:spcPts val="0"/>
              </a:spcAft>
              <a:buClr>
                <a:schemeClr val="dk1"/>
              </a:buClr>
              <a:buSzPts val="1200"/>
              <a:buFont typeface="Calibri"/>
              <a:buAutoNum type="arabicPeriod"/>
            </a:pPr>
            <a:r>
              <a:rPr lang="en-IN"/>
              <a:t>Description – number of rows, column names </a:t>
            </a:r>
            <a:endParaRPr/>
          </a:p>
        </p:txBody>
      </p:sp>
      <p:sp>
        <p:nvSpPr>
          <p:cNvPr id="120" name="Google Shape;12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26" name="Google Shape;12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Phase I Workflow or Objectives addressed in Phase I</a:t>
            </a:r>
            <a:endParaRPr/>
          </a:p>
        </p:txBody>
      </p:sp>
      <p:sp>
        <p:nvSpPr>
          <p:cNvPr id="134" name="Google Shape;13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40" name="Google Shape;1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Language Used</a:t>
            </a:r>
            <a:endParaRPr/>
          </a:p>
          <a:p>
            <a:pPr marL="0" lvl="0" indent="0" algn="l" rtl="0">
              <a:spcBef>
                <a:spcPts val="0"/>
              </a:spcBef>
              <a:spcAft>
                <a:spcPts val="0"/>
              </a:spcAft>
              <a:buNone/>
            </a:pPr>
            <a:r>
              <a:rPr lang="en-IN"/>
              <a:t>Package Used</a:t>
            </a:r>
            <a:endParaRPr/>
          </a:p>
          <a:p>
            <a:pPr marL="0" lvl="0" indent="0" algn="l" rtl="0">
              <a:spcBef>
                <a:spcPts val="0"/>
              </a:spcBef>
              <a:spcAft>
                <a:spcPts val="0"/>
              </a:spcAft>
              <a:buNone/>
            </a:pPr>
            <a:r>
              <a:rPr lang="en-IN"/>
              <a:t>Algorithms Used</a:t>
            </a:r>
            <a:endParaRPr/>
          </a:p>
          <a:p>
            <a:pPr marL="0" lvl="0" indent="0" algn="l" rtl="0">
              <a:spcBef>
                <a:spcPts val="0"/>
              </a:spcBef>
              <a:spcAft>
                <a:spcPts val="0"/>
              </a:spcAft>
              <a:buNone/>
            </a:pPr>
            <a:endParaRPr/>
          </a:p>
        </p:txBody>
      </p:sp>
      <p:sp>
        <p:nvSpPr>
          <p:cNvPr id="141" name="Google Shape;141;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Detail the contributions done in Phase I</a:t>
            </a:r>
            <a:endParaRPr/>
          </a:p>
        </p:txBody>
      </p:sp>
      <p:sp>
        <p:nvSpPr>
          <p:cNvPr id="148" name="Google Shape;148;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4" name="Google Shape;1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Screen shot of acknowledgement proof</a:t>
            </a:r>
            <a:endParaRPr/>
          </a:p>
          <a:p>
            <a:pPr marL="0" lvl="0" indent="0" algn="l" rtl="0">
              <a:spcBef>
                <a:spcPts val="0"/>
              </a:spcBef>
              <a:spcAft>
                <a:spcPts val="0"/>
              </a:spcAft>
              <a:buNone/>
            </a:pPr>
            <a:r>
              <a:rPr lang="en-IN"/>
              <a:t>Conference/Journal details</a:t>
            </a:r>
            <a:endParaRPr/>
          </a:p>
        </p:txBody>
      </p:sp>
      <p:sp>
        <p:nvSpPr>
          <p:cNvPr id="155" name="Google Shape;15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61" name="Google Shape;16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Result Tables</a:t>
            </a:r>
            <a:endParaRPr/>
          </a:p>
          <a:p>
            <a:pPr marL="0" lvl="0" indent="0" algn="l" rtl="0">
              <a:spcBef>
                <a:spcPts val="0"/>
              </a:spcBef>
              <a:spcAft>
                <a:spcPts val="0"/>
              </a:spcAft>
              <a:buNone/>
            </a:pPr>
            <a:r>
              <a:rPr lang="en-IN"/>
              <a:t>Result Graphs</a:t>
            </a:r>
            <a:endParaRPr/>
          </a:p>
        </p:txBody>
      </p:sp>
      <p:sp>
        <p:nvSpPr>
          <p:cNvPr id="162" name="Google Shape;162;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5" name="Google Shape;17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the references In IEEE format. Minimum 5, Max 10.</a:t>
            </a:r>
            <a:endParaRPr/>
          </a:p>
        </p:txBody>
      </p:sp>
      <p:sp>
        <p:nvSpPr>
          <p:cNvPr id="176" name="Google Shape;17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18</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ED99-BC1D-2A1C-3047-ED7F296C82B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91BBAA9-930F-99AA-CBE2-60B13255D8D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B924791-3D77-4B20-34A9-380944010CCD}"/>
              </a:ext>
            </a:extLst>
          </p:cNvPr>
          <p:cNvSpPr>
            <a:spLocks noGrp="1"/>
          </p:cNvSpPr>
          <p:nvPr>
            <p:ph type="dt" sz="half" idx="10"/>
          </p:nvPr>
        </p:nvSpPr>
        <p:spPr/>
        <p:txBody>
          <a:bodyPr/>
          <a:lstStyle/>
          <a:p>
            <a:fld id="{C06C0F1C-D063-4005-9BDF-235444F3FE78}" type="datetimeFigureOut">
              <a:rPr lang="en-US" smtClean="0"/>
              <a:t>5/9/2026</a:t>
            </a:fld>
            <a:endParaRPr lang="en-US"/>
          </a:p>
        </p:txBody>
      </p:sp>
      <p:sp>
        <p:nvSpPr>
          <p:cNvPr id="5" name="Footer Placeholder 4">
            <a:extLst>
              <a:ext uri="{FF2B5EF4-FFF2-40B4-BE49-F238E27FC236}">
                <a16:creationId xmlns:a16="http://schemas.microsoft.com/office/drawing/2014/main" id="{9DE16BE2-221B-6CEA-C0F5-473EFAF37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2F3E0-7EB2-D576-4CC1-7A4415979C1E}"/>
              </a:ext>
            </a:extLst>
          </p:cNvPr>
          <p:cNvSpPr>
            <a:spLocks noGrp="1"/>
          </p:cNvSpPr>
          <p:nvPr>
            <p:ph type="sldNum" sz="quarter" idx="12"/>
          </p:nvPr>
        </p:nvSpPr>
        <p:spPr/>
        <p:txBody>
          <a:bodyPr/>
          <a:lstStyle/>
          <a:p>
            <a:fld id="{03580E5B-611F-4F61-896D-1F75C25B8786}" type="slidenum">
              <a:rPr lang="en-US" smtClean="0"/>
              <a:t>‹#›</a:t>
            </a:fld>
            <a:endParaRPr lang="en-US"/>
          </a:p>
        </p:txBody>
      </p:sp>
      <p:pic>
        <p:nvPicPr>
          <p:cNvPr id="7" name="Google Shape;95;p1" descr="pngfind.com-kingpin-png-4152286 (1).png">
            <a:extLst>
              <a:ext uri="{FF2B5EF4-FFF2-40B4-BE49-F238E27FC236}">
                <a16:creationId xmlns:a16="http://schemas.microsoft.com/office/drawing/2014/main" id="{7491723C-CA6F-134B-050E-19DF105FF7BE}"/>
              </a:ext>
            </a:extLst>
          </p:cNvPr>
          <p:cNvPicPr preferRelativeResize="0"/>
          <p:nvPr userDrawn="1"/>
        </p:nvPicPr>
        <p:blipFill rotWithShape="1">
          <a:blip r:embed="rId2">
            <a:alphaModFix/>
          </a:blip>
          <a:srcRect/>
          <a:stretch/>
        </p:blipFill>
        <p:spPr>
          <a:xfrm>
            <a:off x="7411914" y="92267"/>
            <a:ext cx="1638301" cy="716625"/>
          </a:xfrm>
          <a:prstGeom prst="rect">
            <a:avLst/>
          </a:prstGeom>
          <a:noFill/>
          <a:ln>
            <a:noFill/>
          </a:ln>
        </p:spPr>
      </p:pic>
    </p:spTree>
    <p:extLst>
      <p:ext uri="{BB962C8B-B14F-4D97-AF65-F5344CB8AC3E}">
        <p14:creationId xmlns:p14="http://schemas.microsoft.com/office/powerpoint/2010/main" val="78525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5F664-3465-7F31-65D2-7600BD1934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CE924B-6BD2-652D-B36B-D13E4279B0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A31DF6-FAA0-2E76-5155-5A8EA04EC17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C731EC3-CE7C-7968-7E3F-DF5B3D84F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2B5607-7CB5-A49D-3C78-0F0DA0BE10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pic>
        <p:nvPicPr>
          <p:cNvPr id="7" name="Google Shape;95;p1" descr="pngfind.com-kingpin-png-4152286 (1).png">
            <a:extLst>
              <a:ext uri="{FF2B5EF4-FFF2-40B4-BE49-F238E27FC236}">
                <a16:creationId xmlns:a16="http://schemas.microsoft.com/office/drawing/2014/main" id="{1ED0681D-84ED-75F9-D7BD-221DA65C8CDE}"/>
              </a:ext>
            </a:extLst>
          </p:cNvPr>
          <p:cNvPicPr preferRelativeResize="0"/>
          <p:nvPr userDrawn="1"/>
        </p:nvPicPr>
        <p:blipFill rotWithShape="1">
          <a:blip r:embed="rId2">
            <a:alphaModFix/>
          </a:blip>
          <a:srcRect/>
          <a:stretch/>
        </p:blipFill>
        <p:spPr>
          <a:xfrm>
            <a:off x="7578968" y="28424"/>
            <a:ext cx="1565031" cy="569453"/>
          </a:xfrm>
          <a:prstGeom prst="rect">
            <a:avLst/>
          </a:prstGeom>
          <a:noFill/>
          <a:ln>
            <a:noFill/>
          </a:ln>
        </p:spPr>
      </p:pic>
    </p:spTree>
    <p:extLst>
      <p:ext uri="{BB962C8B-B14F-4D97-AF65-F5344CB8AC3E}">
        <p14:creationId xmlns:p14="http://schemas.microsoft.com/office/powerpoint/2010/main" val="257255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75803-80AA-F22D-BEEB-1A9B096A238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28A2FA7-647F-F9E2-B4D9-EBB2FB52311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CCBE8C-D983-0308-657E-60E09D707DE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A8B8EA9-B1F0-968F-135D-83077546BF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7497E-9A11-F6EF-B053-30D6A11EBA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34065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B8AE7-2253-6751-F490-3C090175EA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21811-D2D9-2ABD-60D1-DA557E6A225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4EAC70-81B6-CADA-9937-764D5DC6672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0A2D18-9EF1-1751-93EF-FB704C777C6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6A829F5-6321-5BE2-0BE7-1B828B6E6A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23C95B-875F-11AE-B4FB-F1A3D13823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34618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FFA6B-4A52-2E3B-4123-8EF91D04C52F}"/>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04EECF-4D4B-148A-F7ED-C239A3AC5A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ADD72D7-3CEA-AA5C-8093-8F2674D2BDE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9E154A-F3DF-86BF-5D4C-C07558500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F7BF2-4665-E136-AA81-9BA4DD582B7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C5638B-E82A-09F3-A648-F843FEA79244}"/>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A4D3C22-C89A-4E4E-BCE3-1BDD872C29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0F7460-69CF-E6CF-DCC9-8E9346AD307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93230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5ABCF-539E-49E1-4C4E-E4FE9DB527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F1E6BF-6F0D-4B1C-B534-3FF6480041E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D256952-5439-B5ED-2B34-E4D2D2B43D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5A4B1-D2B8-15AF-BE28-ACB7E32961F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74726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F4270A-C10E-78EB-3214-A50A2D8CBA6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7D0EC11-7739-E30F-0FBB-E56E93BB4B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D2C2BB-37AC-DB65-F0BA-7AA404147DF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32250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CDA7-9A70-01A2-BCA7-22EBF6228BC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564B362-4301-3217-490C-C47C6EC9B27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D4AFBF-EBE9-4980-E7C3-B421923FECA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879DC10-5F5F-CA05-F8A0-AF5C53CE3CC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9CEC9F2-0EC4-18A8-60DE-251C9CE4CC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9F8CA2-090D-0185-E23B-9941E61AD3C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06966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688F4-7F13-7D09-3CA9-7AFEA6856DF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AAEA856-BF8F-E241-5873-5F04DCCAA77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7F3D452-030C-1CB9-EFA0-10DCEF22D81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0A83BAE-0710-07F2-F21A-AA537243457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706268B-78FC-C7EE-EF48-7175D23B1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C4093-E8E4-1616-9DD2-F9EA64D2A1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749494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16F1-6B4E-18F9-FA83-B279CC3D10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5BCDAA-14DB-D7ED-C4E4-F7388A05AB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37CC1-F3CC-F9D4-AC8B-486010ED380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6E6186A-C77F-36D0-9EC3-24B64FC31A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22CFC-31AE-1B00-C454-58C9321694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47784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AB7D0-43FC-6535-289F-80864C16C4A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E7739D-850B-4457-2DD7-0CEA0732FF7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0C297E-2AA7-BC48-75CF-51DD2ABA56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DD69202-8044-779A-F154-6DB77978AB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D623B-B1F1-B3BE-43B4-92A2424057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6798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D7150D-ED51-BDB9-A3D3-8A9ABCE35B3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A8B8A1-DC9A-6CA0-B8AD-4E1CAAA8843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99CA46-78E9-4A50-081B-CF818A713ED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4F6DE465-27F8-3072-00D0-A17562831A8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D2A522-6155-5499-7D8E-B1FADAC3D4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67603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
          <p:cNvSpPr txBox="1">
            <a:spLocks noGrp="1"/>
          </p:cNvSpPr>
          <p:nvPr>
            <p:ph type="ctrTitle"/>
          </p:nvPr>
        </p:nvSpPr>
        <p:spPr>
          <a:xfrm>
            <a:off x="685797" y="1519027"/>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sz="3600" dirty="0">
                <a:latin typeface="Georgia" panose="02040502050405020303" pitchFamily="18" charset="0"/>
                <a:ea typeface="Calibri" panose="020F0502020204030204" pitchFamily="34" charset="0"/>
                <a:cs typeface="Poppins" panose="00000500000000000000" pitchFamily="2" charset="0"/>
              </a:rPr>
              <a:t>Deep Learning-Based Predictive Maintenance for Rotating Machinery using a Hybrid CNN-LSTM Architecture</a:t>
            </a:r>
            <a:endParaRPr sz="3600" dirty="0">
              <a:latin typeface="Georgia" panose="02040502050405020303" pitchFamily="18" charset="0"/>
              <a:ea typeface="Calibri" panose="020F0502020204030204" pitchFamily="34" charset="0"/>
              <a:cs typeface="Poppins" panose="00000500000000000000" pitchFamily="2" charset="0"/>
            </a:endParaRPr>
          </a:p>
        </p:txBody>
      </p:sp>
      <p:sp>
        <p:nvSpPr>
          <p:cNvPr id="88" name="Google Shape;88;p1"/>
          <p:cNvSpPr txBox="1">
            <a:spLocks noGrp="1"/>
          </p:cNvSpPr>
          <p:nvPr>
            <p:ph type="subTitle" idx="1"/>
          </p:nvPr>
        </p:nvSpPr>
        <p:spPr>
          <a:xfrm>
            <a:off x="1220633" y="4835884"/>
            <a:ext cx="6702725" cy="128887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888888"/>
              </a:buClr>
              <a:buSzPts val="3200"/>
              <a:buNone/>
            </a:pPr>
            <a:r>
              <a:rPr lang="en-IN" sz="1600" dirty="0">
                <a:solidFill>
                  <a:schemeClr val="tx2">
                    <a:lumMod val="50000"/>
                  </a:schemeClr>
                </a:solidFill>
                <a:latin typeface="Georgia" panose="02040502050405020303" pitchFamily="18" charset="0"/>
                <a:cs typeface="Times New Roman" panose="02020603050405020304" pitchFamily="18" charset="0"/>
              </a:rPr>
              <a:t>Student Name: Jackson Jacob L  [RA2412044015069]</a:t>
            </a:r>
          </a:p>
          <a:p>
            <a:pPr marL="0" lvl="0" indent="0" algn="l" rtl="0">
              <a:spcBef>
                <a:spcPts val="0"/>
              </a:spcBef>
              <a:spcAft>
                <a:spcPts val="0"/>
              </a:spcAft>
              <a:buClr>
                <a:srgbClr val="888888"/>
              </a:buClr>
              <a:buSzPts val="3200"/>
              <a:buNone/>
            </a:pPr>
            <a:r>
              <a:rPr lang="en-IN" sz="1600" dirty="0">
                <a:solidFill>
                  <a:schemeClr val="tx2">
                    <a:lumMod val="50000"/>
                  </a:schemeClr>
                </a:solidFill>
                <a:latin typeface="Georgia" panose="02040502050405020303" pitchFamily="18" charset="0"/>
                <a:cs typeface="Times New Roman" panose="02020603050405020304" pitchFamily="18" charset="0"/>
              </a:rPr>
              <a:t>Guide Name: Dr. Uma Maheswari KM[Associate Professor]</a:t>
            </a:r>
          </a:p>
          <a:p>
            <a:pPr marL="0" lvl="0" indent="0" algn="l" rtl="0">
              <a:spcBef>
                <a:spcPts val="0"/>
              </a:spcBef>
              <a:spcAft>
                <a:spcPts val="0"/>
              </a:spcAft>
              <a:buClr>
                <a:srgbClr val="888888"/>
              </a:buClr>
              <a:buSzPts val="3200"/>
              <a:buNone/>
            </a:pPr>
            <a:r>
              <a:rPr lang="en-IN" sz="1600" dirty="0">
                <a:solidFill>
                  <a:schemeClr val="tx2">
                    <a:lumMod val="50000"/>
                  </a:schemeClr>
                </a:solidFill>
                <a:latin typeface="Georgia" panose="02040502050405020303" pitchFamily="18" charset="0"/>
                <a:cs typeface="Times New Roman" panose="02020603050405020304" pitchFamily="18" charset="0"/>
              </a:rPr>
              <a:t>Program: M.Tech in AI and Data Science</a:t>
            </a:r>
          </a:p>
          <a:p>
            <a:pPr marL="0" lvl="0" indent="0" algn="l" rtl="0">
              <a:spcBef>
                <a:spcPts val="0"/>
              </a:spcBef>
              <a:spcAft>
                <a:spcPts val="0"/>
              </a:spcAft>
              <a:buClr>
                <a:srgbClr val="888888"/>
              </a:buClr>
              <a:buSzPts val="3200"/>
              <a:buNone/>
            </a:pPr>
            <a:r>
              <a:rPr lang="en-IN" sz="1600" dirty="0">
                <a:solidFill>
                  <a:schemeClr val="tx2">
                    <a:lumMod val="50000"/>
                  </a:schemeClr>
                </a:solidFill>
                <a:latin typeface="Georgia" panose="02040502050405020303" pitchFamily="18" charset="0"/>
                <a:cs typeface="Times New Roman" panose="02020603050405020304" pitchFamily="18" charset="0"/>
              </a:rPr>
              <a:t>Institution: SRM Institute of Science &amp;Technology</a:t>
            </a:r>
          </a:p>
          <a:p>
            <a:pPr marL="0" lvl="0" indent="0" algn="l" rtl="0">
              <a:spcBef>
                <a:spcPts val="0"/>
              </a:spcBef>
              <a:spcAft>
                <a:spcPts val="0"/>
              </a:spcAft>
              <a:buClr>
                <a:srgbClr val="888888"/>
              </a:buClr>
              <a:buSzPts val="3200"/>
              <a:buNone/>
            </a:pPr>
            <a:r>
              <a:rPr lang="en-IN" sz="1600" dirty="0">
                <a:solidFill>
                  <a:schemeClr val="tx2">
                    <a:lumMod val="50000"/>
                  </a:schemeClr>
                </a:solidFill>
                <a:latin typeface="Georgia" panose="02040502050405020303" pitchFamily="18" charset="0"/>
                <a:cs typeface="Times New Roman" panose="02020603050405020304" pitchFamily="18" charset="0"/>
              </a:rPr>
              <a:t>Date: 09/05/2026</a:t>
            </a:r>
          </a:p>
          <a:p>
            <a:pPr marL="0" lvl="0" indent="0" algn="l" rtl="0">
              <a:spcBef>
                <a:spcPts val="0"/>
              </a:spcBef>
              <a:spcAft>
                <a:spcPts val="0"/>
              </a:spcAft>
              <a:buClr>
                <a:srgbClr val="888888"/>
              </a:buClr>
              <a:buSzPts val="3200"/>
              <a:buNone/>
            </a:pPr>
            <a:endParaRPr sz="1600" dirty="0">
              <a:solidFill>
                <a:schemeClr val="tx2">
                  <a:lumMod val="50000"/>
                </a:schemeClr>
              </a:solidFill>
              <a:latin typeface="Georgia" panose="02040502050405020303"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795CFE7-2FA6-2753-2ED9-6E92A07504FD}"/>
              </a:ext>
            </a:extLst>
          </p:cNvPr>
          <p:cNvSpPr txBox="1"/>
          <p:nvPr/>
        </p:nvSpPr>
        <p:spPr>
          <a:xfrm>
            <a:off x="3017350" y="3550575"/>
            <a:ext cx="3109290" cy="369332"/>
          </a:xfrm>
          <a:prstGeom prst="rect">
            <a:avLst/>
          </a:prstGeom>
          <a:noFill/>
        </p:spPr>
        <p:txBody>
          <a:bodyPr wrap="square" rtlCol="0">
            <a:spAutoFit/>
          </a:bodyPr>
          <a:lstStyle/>
          <a:p>
            <a:pPr algn="ctr"/>
            <a:r>
              <a:rPr lang="en-US" dirty="0">
                <a:latin typeface="Georgia" panose="02040502050405020303" pitchFamily="18" charset="0"/>
                <a:cs typeface="Times New Roman" panose="02020603050405020304" pitchFamily="18" charset="0"/>
              </a:rPr>
              <a:t>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Abstract</a:t>
            </a:r>
            <a:endParaRPr dirty="0">
              <a:latin typeface="Georgia" panose="02040502050405020303" pitchFamily="18" charset="0"/>
            </a:endParaRPr>
          </a:p>
        </p:txBody>
      </p:sp>
      <p:sp>
        <p:nvSpPr>
          <p:cNvPr id="4" name="Text Placeholder 3">
            <a:extLst>
              <a:ext uri="{FF2B5EF4-FFF2-40B4-BE49-F238E27FC236}">
                <a16:creationId xmlns:a16="http://schemas.microsoft.com/office/drawing/2014/main" id="{217657E9-4393-C0DE-2AD9-78DDE34C67B6}"/>
              </a:ext>
            </a:extLst>
          </p:cNvPr>
          <p:cNvSpPr>
            <a:spLocks noGrp="1"/>
          </p:cNvSpPr>
          <p:nvPr>
            <p:ph idx="1"/>
          </p:nvPr>
        </p:nvSpPr>
        <p:spPr>
          <a:xfrm>
            <a:off x="620024" y="1825625"/>
            <a:ext cx="7886700" cy="4747703"/>
          </a:xfrm>
        </p:spPr>
        <p:txBody>
          <a:bodyPr>
            <a:normAutofit/>
          </a:bodyPr>
          <a:lstStyle/>
          <a:p>
            <a:pPr>
              <a:buFont typeface="Wingdings" panose="05000000000000000000" pitchFamily="2" charset="2"/>
              <a:buChar char="§"/>
            </a:pPr>
            <a:r>
              <a:rPr lang="en-US" sz="2200" b="1" dirty="0">
                <a:latin typeface="Georgia" panose="02040502050405020303" pitchFamily="18" charset="0"/>
              </a:rPr>
              <a:t>Objective:</a:t>
            </a:r>
            <a:r>
              <a:rPr lang="en-US" sz="2200" dirty="0">
                <a:latin typeface="Georgia" panose="02040502050405020303" pitchFamily="18" charset="0"/>
              </a:rPr>
              <a:t> </a:t>
            </a:r>
            <a:r>
              <a:rPr lang="en-US" dirty="0">
                <a:latin typeface="Georgia" panose="02040502050405020303" pitchFamily="18" charset="0"/>
              </a:rPr>
              <a:t>Develop a deep learning-based predictive maintenance system for induction motors using a hybrid CNN-LSTM architecture with an attention mechanism to detect and classify six different operating conditions.</a:t>
            </a:r>
          </a:p>
          <a:p>
            <a:pPr>
              <a:buFont typeface="Wingdings" panose="05000000000000000000" pitchFamily="2" charset="2"/>
              <a:buChar char="§"/>
            </a:pPr>
            <a:r>
              <a:rPr lang="en-US" sz="2200" b="1" dirty="0">
                <a:latin typeface="Georgia" panose="02040502050405020303" pitchFamily="18" charset="0"/>
              </a:rPr>
              <a:t>Deliverables:</a:t>
            </a:r>
          </a:p>
          <a:p>
            <a:pPr lvl="1">
              <a:buFont typeface="Wingdings" panose="05000000000000000000" pitchFamily="2" charset="2"/>
              <a:buChar char="§"/>
            </a:pPr>
            <a:r>
              <a:rPr lang="en-US" dirty="0">
                <a:latin typeface="Georgia" panose="02040502050405020303" pitchFamily="18" charset="0"/>
              </a:rPr>
              <a:t>Trained model with ~1.22M parameters</a:t>
            </a:r>
          </a:p>
          <a:p>
            <a:pPr lvl="1">
              <a:buFont typeface="Wingdings" panose="05000000000000000000" pitchFamily="2" charset="2"/>
              <a:buChar char="§"/>
            </a:pPr>
            <a:r>
              <a:rPr lang="en-US" sz="1800" dirty="0">
                <a:latin typeface="Georgia" panose="02040502050405020303" pitchFamily="18" charset="0"/>
              </a:rPr>
              <a:t>Interactive real-time monitoring dashboard</a:t>
            </a:r>
          </a:p>
          <a:p>
            <a:pPr lvl="1">
              <a:buFont typeface="Wingdings" panose="05000000000000000000" pitchFamily="2" charset="2"/>
              <a:buChar char="§"/>
            </a:pPr>
            <a:r>
              <a:rPr lang="en-US" sz="1800" dirty="0">
                <a:latin typeface="Georgia" panose="02040502050405020303" pitchFamily="18" charset="0"/>
              </a:rPr>
              <a:t>Comprehensive fault database and maintenance logging system</a:t>
            </a:r>
          </a:p>
          <a:p>
            <a:pPr>
              <a:buFont typeface="Wingdings" panose="05000000000000000000" pitchFamily="2" charset="2"/>
              <a:buChar char="§"/>
            </a:pPr>
            <a:r>
              <a:rPr lang="en-US" sz="2200" b="1" dirty="0">
                <a:latin typeface="Georgia" panose="02040502050405020303" pitchFamily="18" charset="0"/>
              </a:rPr>
              <a:t>Dataset: </a:t>
            </a:r>
            <a:r>
              <a:rPr lang="en-US" dirty="0">
                <a:latin typeface="Georgia" panose="02040502050405020303" pitchFamily="18" charset="0"/>
              </a:rPr>
              <a:t>Fault Induction Motor Dataset (Uysal Serkan)</a:t>
            </a:r>
          </a:p>
          <a:p>
            <a:pPr>
              <a:buFont typeface="Wingdings" panose="05000000000000000000" pitchFamily="2" charset="2"/>
              <a:buChar char="§"/>
            </a:pPr>
            <a:r>
              <a:rPr lang="en-US" sz="2200" b="1" dirty="0">
                <a:latin typeface="Georgia" panose="02040502050405020303" pitchFamily="18" charset="0"/>
              </a:rPr>
              <a:t>Architecture: </a:t>
            </a:r>
            <a:r>
              <a:rPr lang="en-US" dirty="0">
                <a:latin typeface="Georgia" panose="02040502050405020303" pitchFamily="18" charset="0"/>
              </a:rPr>
              <a:t>Multi-scale CNN feature extraction + Bidirectional LSTM with attention</a:t>
            </a:r>
          </a:p>
          <a:p>
            <a:pPr>
              <a:buFont typeface="Wingdings" panose="05000000000000000000" pitchFamily="2" charset="2"/>
              <a:buChar char="§"/>
            </a:pPr>
            <a:r>
              <a:rPr lang="en-US" sz="2200" b="1" dirty="0">
                <a:latin typeface="Georgia" panose="02040502050405020303" pitchFamily="18" charset="0"/>
              </a:rPr>
              <a:t>Training</a:t>
            </a:r>
            <a:r>
              <a:rPr lang="en-US" sz="1800" b="1" dirty="0">
                <a:latin typeface="Georgia" panose="02040502050405020303" pitchFamily="18" charset="0"/>
              </a:rPr>
              <a:t>: </a:t>
            </a:r>
            <a:r>
              <a:rPr lang="en-US" dirty="0">
                <a:latin typeface="Georgia" panose="02040502050405020303" pitchFamily="18" charset="0"/>
              </a:rPr>
              <a:t>30 epochs with early stopping and learning rate scheduling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03BEE152-D269-357D-E861-E64DF7BA5ED1}"/>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E3E2D957-BEFE-4904-9C4E-8A995EAF3429}"/>
              </a:ext>
            </a:extLst>
          </p:cNvPr>
          <p:cNvSpPr txBox="1">
            <a:spLocks noGrp="1"/>
          </p:cNvSpPr>
          <p:nvPr>
            <p:ph type="title"/>
          </p:nvPr>
        </p:nvSpPr>
        <p:spPr>
          <a:xfrm>
            <a:off x="628650" y="356499"/>
            <a:ext cx="78867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Introduction</a:t>
            </a:r>
            <a:endParaRPr dirty="0">
              <a:latin typeface="Georgia" panose="02040502050405020303" pitchFamily="18" charset="0"/>
            </a:endParaRPr>
          </a:p>
        </p:txBody>
      </p:sp>
      <p:sp>
        <p:nvSpPr>
          <p:cNvPr id="2" name="Text Placeholder 1">
            <a:extLst>
              <a:ext uri="{FF2B5EF4-FFF2-40B4-BE49-F238E27FC236}">
                <a16:creationId xmlns:a16="http://schemas.microsoft.com/office/drawing/2014/main" id="{171791DD-C65B-EFE3-02DF-BA50AC235FAC}"/>
              </a:ext>
            </a:extLst>
          </p:cNvPr>
          <p:cNvSpPr>
            <a:spLocks noGrp="1"/>
          </p:cNvSpPr>
          <p:nvPr>
            <p:ph idx="1"/>
          </p:nvPr>
        </p:nvSpPr>
        <p:spPr>
          <a:xfrm>
            <a:off x="457200" y="1682062"/>
            <a:ext cx="8229600" cy="4809226"/>
          </a:xfrm>
        </p:spPr>
        <p:txBody>
          <a:bodyPr>
            <a:normAutofit/>
          </a:bodyPr>
          <a:lstStyle/>
          <a:p>
            <a:pPr>
              <a:buFont typeface="Wingdings" panose="05000000000000000000" pitchFamily="2" charset="2"/>
              <a:buChar char="§"/>
            </a:pPr>
            <a:r>
              <a:rPr lang="en-US" sz="2200" b="1" dirty="0">
                <a:latin typeface="Georgia" panose="02040502050405020303" pitchFamily="18" charset="0"/>
              </a:rPr>
              <a:t>Background: </a:t>
            </a:r>
            <a:r>
              <a:rPr lang="en-US" dirty="0">
                <a:latin typeface="Georgia" panose="02040502050405020303" pitchFamily="18" charset="0"/>
              </a:rPr>
              <a:t>Industrial rotating machinery forms the backbone of modern manufacturing, power generation, and transportation systems. Induction motors, in particular, account for approximately 70% of industrial electricity consumption and are critical components in countless applications. Unexpected failures in these machines can lead to catastrophic production losses, safety hazards, and significant financial impact.</a:t>
            </a:r>
          </a:p>
          <a:p>
            <a:pPr marL="0" indent="0">
              <a:buNone/>
            </a:pPr>
            <a:endParaRPr lang="en-US" sz="1800" dirty="0">
              <a:latin typeface="Georgia" panose="02040502050405020303" pitchFamily="18" charset="0"/>
            </a:endParaRPr>
          </a:p>
          <a:p>
            <a:pPr>
              <a:buFont typeface="Wingdings" panose="05000000000000000000" pitchFamily="2" charset="2"/>
              <a:buChar char="§"/>
            </a:pPr>
            <a:r>
              <a:rPr lang="en-US" sz="2200" b="1" dirty="0">
                <a:latin typeface="Georgia" panose="02040502050405020303" pitchFamily="18" charset="0"/>
              </a:rPr>
              <a:t>Proposed Solution:</a:t>
            </a:r>
          </a:p>
          <a:p>
            <a:pPr lvl="1">
              <a:buFont typeface="Wingdings" panose="05000000000000000000" pitchFamily="2" charset="2"/>
              <a:buChar char="§"/>
            </a:pPr>
            <a:r>
              <a:rPr lang="en-US" sz="2100" dirty="0">
                <a:latin typeface="Georgia" panose="02040502050405020303" pitchFamily="18" charset="0"/>
              </a:rPr>
              <a:t>Captures multi-scale spatial features using parallel convolutional branches</a:t>
            </a:r>
          </a:p>
          <a:p>
            <a:pPr lvl="1">
              <a:buFont typeface="Wingdings" panose="05000000000000000000" pitchFamily="2" charset="2"/>
              <a:buChar char="§"/>
            </a:pPr>
            <a:r>
              <a:rPr lang="en-US" sz="2100" dirty="0">
                <a:latin typeface="Georgia" panose="02040502050405020303" pitchFamily="18" charset="0"/>
              </a:rPr>
              <a:t>Models' temporal dependencies through bidirectional LSTMs</a:t>
            </a:r>
          </a:p>
          <a:p>
            <a:pPr lvl="1">
              <a:buFont typeface="Wingdings" panose="05000000000000000000" pitchFamily="2" charset="2"/>
              <a:buChar char="§"/>
            </a:pPr>
            <a:r>
              <a:rPr lang="en-US" sz="2100" dirty="0">
                <a:latin typeface="Georgia" panose="02040502050405020303" pitchFamily="18" charset="0"/>
              </a:rPr>
              <a:t>Focuses on the most relevant time steps via attention</a:t>
            </a:r>
          </a:p>
          <a:p>
            <a:pPr lvl="1">
              <a:buFont typeface="Wingdings" panose="05000000000000000000" pitchFamily="2" charset="2"/>
              <a:buChar char="§"/>
            </a:pPr>
            <a:r>
              <a:rPr lang="en-US" sz="2100" dirty="0">
                <a:latin typeface="Georgia" panose="02040502050405020303" pitchFamily="18" charset="0"/>
              </a:rPr>
              <a:t>Provides real-time fault classification with high accuracy</a:t>
            </a:r>
          </a:p>
        </p:txBody>
      </p:sp>
    </p:spTree>
    <p:extLst>
      <p:ext uri="{BB962C8B-B14F-4D97-AF65-F5344CB8AC3E}">
        <p14:creationId xmlns:p14="http://schemas.microsoft.com/office/powerpoint/2010/main" val="191073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Motivation</a:t>
            </a:r>
            <a:endParaRPr dirty="0">
              <a:latin typeface="Georgia" panose="02040502050405020303" pitchFamily="18" charset="0"/>
            </a:endParaRPr>
          </a:p>
        </p:txBody>
      </p:sp>
      <p:sp>
        <p:nvSpPr>
          <p:cNvPr id="3" name="Text Placeholder 2">
            <a:extLst>
              <a:ext uri="{FF2B5EF4-FFF2-40B4-BE49-F238E27FC236}">
                <a16:creationId xmlns:a16="http://schemas.microsoft.com/office/drawing/2014/main" id="{78B85469-BB8C-14B2-3E4A-E2834F9A3714}"/>
              </a:ext>
            </a:extLst>
          </p:cNvPr>
          <p:cNvSpPr>
            <a:spLocks noGrp="1"/>
          </p:cNvSpPr>
          <p:nvPr>
            <p:ph idx="1"/>
          </p:nvPr>
        </p:nvSpPr>
        <p:spPr>
          <a:xfrm>
            <a:off x="628650" y="1886010"/>
            <a:ext cx="7886700" cy="4606864"/>
          </a:xfrm>
        </p:spPr>
        <p:txBody>
          <a:bodyPr>
            <a:normAutofit lnSpcReduction="10000"/>
          </a:bodyPr>
          <a:lstStyle/>
          <a:p>
            <a:pPr>
              <a:buFont typeface="Wingdings" panose="05000000000000000000" pitchFamily="2" charset="2"/>
              <a:buChar char="§"/>
            </a:pPr>
            <a:r>
              <a:rPr lang="en-US" sz="2200" b="1" dirty="0">
                <a:latin typeface="Georgia" panose="02040502050405020303" pitchFamily="18" charset="0"/>
              </a:rPr>
              <a:t>Why This Project?</a:t>
            </a:r>
          </a:p>
          <a:p>
            <a:pPr lvl="1">
              <a:buFont typeface="Wingdings" panose="05000000000000000000" pitchFamily="2" charset="2"/>
              <a:buChar char="§"/>
            </a:pPr>
            <a:r>
              <a:rPr lang="en-US" sz="2100" dirty="0">
                <a:latin typeface="Georgia" panose="02040502050405020303" pitchFamily="18" charset="0"/>
              </a:rPr>
              <a:t>Industrial Need: 42% of unplanned downtime due to rotating equipment failures</a:t>
            </a:r>
          </a:p>
          <a:p>
            <a:pPr lvl="1">
              <a:buFont typeface="Wingdings" panose="05000000000000000000" pitchFamily="2" charset="2"/>
              <a:buChar char="§"/>
            </a:pPr>
            <a:r>
              <a:rPr lang="en-US" sz="2100" dirty="0">
                <a:latin typeface="Georgia" panose="02040502050405020303" pitchFamily="18" charset="0"/>
              </a:rPr>
              <a:t>Economic Impact: Average cost of downtime: $260,000/hour in manufacturing</a:t>
            </a:r>
          </a:p>
          <a:p>
            <a:pPr lvl="1">
              <a:buFont typeface="Wingdings" panose="05000000000000000000" pitchFamily="2" charset="2"/>
              <a:buChar char="§"/>
            </a:pPr>
            <a:r>
              <a:rPr lang="en-US" sz="2100" dirty="0">
                <a:latin typeface="Georgia" panose="02040502050405020303" pitchFamily="18" charset="0"/>
              </a:rPr>
              <a:t>Safety Concerns: Catastrophic failures risk human lives</a:t>
            </a:r>
          </a:p>
          <a:p>
            <a:pPr lvl="1">
              <a:buFont typeface="Wingdings" panose="05000000000000000000" pitchFamily="2" charset="2"/>
              <a:buChar char="§"/>
            </a:pPr>
            <a:r>
              <a:rPr lang="en-US" sz="2100" dirty="0">
                <a:latin typeface="Georgia" panose="02040502050405020303" pitchFamily="18" charset="0"/>
              </a:rPr>
              <a:t>Research Gap: Limited works combining classification + RUL with explainability</a:t>
            </a:r>
          </a:p>
          <a:p>
            <a:pPr lvl="1">
              <a:buFont typeface="Wingdings" panose="05000000000000000000" pitchFamily="2" charset="2"/>
              <a:buChar char="§"/>
            </a:pPr>
            <a:r>
              <a:rPr lang="en-US" sz="2100" dirty="0">
                <a:latin typeface="Georgia" panose="02040502050405020303" pitchFamily="18" charset="0"/>
              </a:rPr>
              <a:t>Sustainability: Reduce unnecessary maintenance, spare parts, energy waste</a:t>
            </a:r>
          </a:p>
          <a:p>
            <a:pPr lvl="1">
              <a:buFont typeface="Wingdings" panose="05000000000000000000" pitchFamily="2" charset="2"/>
              <a:buChar char="§"/>
            </a:pPr>
            <a:endParaRPr lang="en-US" sz="1400" dirty="0">
              <a:latin typeface="Georgia" panose="02040502050405020303" pitchFamily="18" charset="0"/>
            </a:endParaRPr>
          </a:p>
          <a:p>
            <a:pPr>
              <a:buFont typeface="Wingdings" panose="05000000000000000000" pitchFamily="2" charset="2"/>
              <a:buChar char="§"/>
            </a:pPr>
            <a:r>
              <a:rPr lang="en-US" sz="2200" b="1" dirty="0">
                <a:latin typeface="Georgia" panose="02040502050405020303" pitchFamily="18" charset="0"/>
              </a:rPr>
              <a:t>Motivation:</a:t>
            </a:r>
          </a:p>
          <a:p>
            <a:pPr lvl="1">
              <a:buFont typeface="Wingdings" panose="05000000000000000000" pitchFamily="2" charset="2"/>
              <a:buChar char="§"/>
            </a:pPr>
            <a:r>
              <a:rPr lang="en-US" sz="2100" dirty="0">
                <a:latin typeface="Georgia" panose="02040502050405020303" pitchFamily="18" charset="0"/>
              </a:rPr>
              <a:t>Interest in applied AI for real-world problems</a:t>
            </a:r>
          </a:p>
          <a:p>
            <a:pPr lvl="1">
              <a:buFont typeface="Wingdings" panose="05000000000000000000" pitchFamily="2" charset="2"/>
              <a:buChar char="§"/>
            </a:pPr>
            <a:r>
              <a:rPr lang="en-US" sz="2100" dirty="0">
                <a:latin typeface="Georgia" panose="02040502050405020303" pitchFamily="18" charset="0"/>
              </a:rPr>
              <a:t>Background in mechanical engineering + AI/ML</a:t>
            </a:r>
          </a:p>
          <a:p>
            <a:pPr lvl="1">
              <a:buFont typeface="Wingdings" panose="05000000000000000000" pitchFamily="2" charset="2"/>
              <a:buChar char="§"/>
            </a:pPr>
            <a:r>
              <a:rPr lang="en-US" sz="2100" dirty="0">
                <a:latin typeface="Georgia" panose="02040502050405020303" pitchFamily="18" charset="0"/>
              </a:rPr>
              <a:t>Industry-academia collaboration potential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628649" y="103073"/>
            <a:ext cx="7886700" cy="7082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Literature Review</a:t>
            </a:r>
            <a:endParaRPr dirty="0">
              <a:latin typeface="Georgia" panose="02040502050405020303" pitchFamily="18" charset="0"/>
            </a:endParaRPr>
          </a:p>
        </p:txBody>
      </p:sp>
      <p:graphicFrame>
        <p:nvGraphicFramePr>
          <p:cNvPr id="109" name="Google Shape;109;p4"/>
          <p:cNvGraphicFramePr/>
          <p:nvPr>
            <p:extLst>
              <p:ext uri="{D42A27DB-BD31-4B8C-83A1-F6EECF244321}">
                <p14:modId xmlns:p14="http://schemas.microsoft.com/office/powerpoint/2010/main" val="1018470971"/>
              </p:ext>
            </p:extLst>
          </p:nvPr>
        </p:nvGraphicFramePr>
        <p:xfrm>
          <a:off x="464311" y="811277"/>
          <a:ext cx="8215375" cy="5943650"/>
        </p:xfrm>
        <a:graphic>
          <a:graphicData uri="http://schemas.openxmlformats.org/drawingml/2006/table">
            <a:tbl>
              <a:tblPr firstRow="1" bandRow="1">
                <a:noFill/>
                <a:tableStyleId>{DD6EE30B-C028-4789-B6E4-0BFFCBE8230D}</a:tableStyleId>
              </a:tblPr>
              <a:tblGrid>
                <a:gridCol w="1643075">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400796">
                <a:tc>
                  <a:txBody>
                    <a:bodyPr/>
                    <a:lstStyle/>
                    <a:p>
                      <a:pPr marL="0" marR="0" lvl="0" indent="0" algn="l" rtl="0">
                        <a:spcBef>
                          <a:spcPts val="0"/>
                        </a:spcBef>
                        <a:spcAft>
                          <a:spcPts val="0"/>
                        </a:spcAft>
                        <a:buNone/>
                      </a:pPr>
                      <a:r>
                        <a:rPr lang="en-IN" sz="1200" u="none" strike="noStrike" cap="none" dirty="0">
                          <a:latin typeface="Georgia" panose="02040502050405020303" pitchFamily="18" charset="0"/>
                        </a:rPr>
                        <a:t>Title of the Paper</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Journal</a:t>
                      </a:r>
                      <a:endParaRPr sz="120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dirty="0">
                          <a:latin typeface="Georgia" panose="02040502050405020303" pitchFamily="18" charset="0"/>
                        </a:rPr>
                        <a:t>DataSet Used</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Contributions</a:t>
                      </a:r>
                      <a:endParaRPr sz="120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Other Observations</a:t>
                      </a:r>
                      <a:endParaRPr sz="1200">
                        <a:latin typeface="Georgia" panose="02040502050405020303" pitchFamily="18" charset="0"/>
                      </a:endParaRPr>
                    </a:p>
                  </a:txBody>
                  <a:tcPr marL="91450" marR="91450" marT="45725" marB="45725"/>
                </a:tc>
                <a:extLst>
                  <a:ext uri="{0D108BD9-81ED-4DB2-BD59-A6C34878D82A}">
                    <a16:rowId xmlns:a16="http://schemas.microsoft.com/office/drawing/2014/main" val="10000"/>
                  </a:ext>
                </a:extLst>
              </a:tr>
              <a:tr h="1042055">
                <a:tc>
                  <a:txBody>
                    <a:bodyPr/>
                    <a:lstStyle/>
                    <a:p>
                      <a:pPr marL="0" marR="0" lvl="0" indent="0" algn="l" rtl="0">
                        <a:spcBef>
                          <a:spcPts val="0"/>
                        </a:spcBef>
                        <a:spcAft>
                          <a:spcPts val="0"/>
                        </a:spcAft>
                        <a:buNone/>
                      </a:pPr>
                      <a:r>
                        <a:rPr lang="en-US" sz="1200" dirty="0">
                          <a:latin typeface="Georgia" panose="02040502050405020303" pitchFamily="18" charset="0"/>
                        </a:rPr>
                        <a:t>Deep Learning for Predictive Maintenance: A Review of Models, Challenges, and Opportunities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IEEE Transactions on Industrial Informatics, 2022</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NASA C-MAPSS, FEMTO-ST Bearing, PRONOSTIA</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Comprehensive review of DL architectures for PdM, taxonomy of approaches, benchmark results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Identifies data quality, real-time deployment, and explainability as major challenges</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10001"/>
                  </a:ext>
                </a:extLst>
              </a:tr>
              <a:tr h="1362685">
                <a:tc>
                  <a:txBody>
                    <a:bodyPr/>
                    <a:lstStyle/>
                    <a:p>
                      <a:pPr marL="0" marR="0" lvl="0" indent="0" algn="l" rtl="0">
                        <a:spcBef>
                          <a:spcPts val="0"/>
                        </a:spcBef>
                        <a:spcAft>
                          <a:spcPts val="0"/>
                        </a:spcAft>
                        <a:buNone/>
                      </a:pPr>
                      <a:r>
                        <a:rPr lang="en-US" sz="1200" dirty="0">
                          <a:latin typeface="Georgia" panose="02040502050405020303" pitchFamily="18" charset="0"/>
                        </a:rPr>
                        <a:t>A Hybrid CNN-LSTM Model for Predicting Remaining Useful Life of Machinery</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Mechanical Systems and Signal Processing, 2021</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NASA C-MAPSS (FD001-FD004)</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Combines CNN for feature extraction and LSTM for temporal dependencies, achieves 15% RMSE improvement over standalone models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Limited to RUL prediction only, no fault classification capability</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10002"/>
                  </a:ext>
                </a:extLst>
              </a:tr>
              <a:tr h="1202370">
                <a:tc>
                  <a:txBody>
                    <a:bodyPr/>
                    <a:lstStyle/>
                    <a:p>
                      <a:pPr marL="0" marR="0" lvl="0" indent="0" algn="l" rtl="0">
                        <a:spcBef>
                          <a:spcPts val="0"/>
                        </a:spcBef>
                        <a:spcAft>
                          <a:spcPts val="0"/>
                        </a:spcAft>
                        <a:buNone/>
                      </a:pPr>
                      <a:r>
                        <a:rPr lang="en-US" sz="1200" dirty="0">
                          <a:latin typeface="Georgia" panose="02040502050405020303" pitchFamily="18" charset="0"/>
                        </a:rPr>
                        <a:t>Transfer Learning for Bearing Fault Diagnosis Under Varying Working Conditions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IEEE Transactions on Instrumentation and Measurement, 2020</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CWRU Bearing, Paderborn University Bearing</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Proposes domain adaptation method to transfer knowledge from lab to field conditions, reduces need for labeled field data</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Requires substantial source domain data, limited to classification only</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10003"/>
                  </a:ext>
                </a:extLst>
              </a:tr>
              <a:tr h="1202370">
                <a:tc>
                  <a:txBody>
                    <a:bodyPr/>
                    <a:lstStyle/>
                    <a:p>
                      <a:pPr marL="0" marR="0" lvl="0" indent="0" algn="l" rtl="0">
                        <a:spcBef>
                          <a:spcPts val="0"/>
                        </a:spcBef>
                        <a:spcAft>
                          <a:spcPts val="0"/>
                        </a:spcAft>
                        <a:buNone/>
                      </a:pPr>
                      <a:r>
                        <a:rPr lang="en-US" sz="1200" dirty="0">
                          <a:latin typeface="Georgia" panose="02040502050405020303" pitchFamily="18" charset="0"/>
                        </a:rPr>
                        <a:t>Explainable AI for Predictive Maintenance Using SHAP and Grad-CAM</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Expert Systems with Applications, 2023</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MFPT Bearing, CWRU Bearing</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Integrates XAI techniques with CNN models to provide interpretable fault predictions, improves user trust by 40%</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Computational overhead increases inference time by 30%</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6F326A2-33FF-FE7F-1307-F2016B4C008C}"/>
              </a:ext>
            </a:extLst>
          </p:cNvPr>
          <p:cNvGraphicFramePr>
            <a:graphicFrameLocks noGrp="1"/>
          </p:cNvGraphicFramePr>
          <p:nvPr>
            <p:extLst>
              <p:ext uri="{D42A27DB-BD31-4B8C-83A1-F6EECF244321}">
                <p14:modId xmlns:p14="http://schemas.microsoft.com/office/powerpoint/2010/main" val="1456106436"/>
              </p:ext>
            </p:extLst>
          </p:nvPr>
        </p:nvGraphicFramePr>
        <p:xfrm>
          <a:off x="464312" y="473803"/>
          <a:ext cx="8215375" cy="5910394"/>
        </p:xfrm>
        <a:graphic>
          <a:graphicData uri="http://schemas.openxmlformats.org/drawingml/2006/table">
            <a:tbl>
              <a:tblPr firstRow="1" bandRow="1">
                <a:noFill/>
                <a:tableStyleId>{DD6EE30B-C028-4789-B6E4-0BFFCBE8230D}</a:tableStyleId>
              </a:tblPr>
              <a:tblGrid>
                <a:gridCol w="1643075">
                  <a:extLst>
                    <a:ext uri="{9D8B030D-6E8A-4147-A177-3AD203B41FA5}">
                      <a16:colId xmlns:a16="http://schemas.microsoft.com/office/drawing/2014/main" val="1765767275"/>
                    </a:ext>
                  </a:extLst>
                </a:gridCol>
                <a:gridCol w="1643075">
                  <a:extLst>
                    <a:ext uri="{9D8B030D-6E8A-4147-A177-3AD203B41FA5}">
                      <a16:colId xmlns:a16="http://schemas.microsoft.com/office/drawing/2014/main" val="2947207215"/>
                    </a:ext>
                  </a:extLst>
                </a:gridCol>
                <a:gridCol w="1643075">
                  <a:extLst>
                    <a:ext uri="{9D8B030D-6E8A-4147-A177-3AD203B41FA5}">
                      <a16:colId xmlns:a16="http://schemas.microsoft.com/office/drawing/2014/main" val="2694362206"/>
                    </a:ext>
                  </a:extLst>
                </a:gridCol>
                <a:gridCol w="1643075">
                  <a:extLst>
                    <a:ext uri="{9D8B030D-6E8A-4147-A177-3AD203B41FA5}">
                      <a16:colId xmlns:a16="http://schemas.microsoft.com/office/drawing/2014/main" val="829338583"/>
                    </a:ext>
                  </a:extLst>
                </a:gridCol>
                <a:gridCol w="1643075">
                  <a:extLst>
                    <a:ext uri="{9D8B030D-6E8A-4147-A177-3AD203B41FA5}">
                      <a16:colId xmlns:a16="http://schemas.microsoft.com/office/drawing/2014/main" val="3959953981"/>
                    </a:ext>
                  </a:extLst>
                </a:gridCol>
              </a:tblGrid>
              <a:tr h="420786">
                <a:tc>
                  <a:txBody>
                    <a:bodyPr/>
                    <a:lstStyle/>
                    <a:p>
                      <a:pPr marL="0" marR="0" lvl="0" indent="0" algn="l" rtl="0">
                        <a:spcBef>
                          <a:spcPts val="0"/>
                        </a:spcBef>
                        <a:spcAft>
                          <a:spcPts val="0"/>
                        </a:spcAft>
                        <a:buNone/>
                      </a:pPr>
                      <a:r>
                        <a:rPr lang="en-IN" sz="1200" u="none" strike="noStrike" cap="none" dirty="0">
                          <a:latin typeface="Georgia" panose="02040502050405020303" pitchFamily="18" charset="0"/>
                        </a:rPr>
                        <a:t>Title of the Paper</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Journal</a:t>
                      </a:r>
                      <a:endParaRPr sz="120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dirty="0">
                          <a:latin typeface="Georgia" panose="02040502050405020303" pitchFamily="18" charset="0"/>
                        </a:rPr>
                        <a:t>DataSet Used</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Contributions</a:t>
                      </a:r>
                      <a:endParaRPr sz="120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IN" sz="1200">
                          <a:latin typeface="Georgia" panose="02040502050405020303" pitchFamily="18" charset="0"/>
                        </a:rPr>
                        <a:t>Other Observations</a:t>
                      </a:r>
                      <a:endParaRPr sz="1200">
                        <a:latin typeface="Georgia" panose="02040502050405020303" pitchFamily="18" charset="0"/>
                      </a:endParaRPr>
                    </a:p>
                  </a:txBody>
                  <a:tcPr marL="91450" marR="91450" marT="45725" marB="45725"/>
                </a:tc>
                <a:extLst>
                  <a:ext uri="{0D108BD9-81ED-4DB2-BD59-A6C34878D82A}">
                    <a16:rowId xmlns:a16="http://schemas.microsoft.com/office/drawing/2014/main" val="3335957762"/>
                  </a:ext>
                </a:extLst>
              </a:tr>
              <a:tr h="1159908">
                <a:tc>
                  <a:txBody>
                    <a:bodyPr/>
                    <a:lstStyle/>
                    <a:p>
                      <a:pPr marL="0" marR="0" lvl="0" indent="0" algn="l" rtl="0">
                        <a:spcBef>
                          <a:spcPts val="0"/>
                        </a:spcBef>
                        <a:spcAft>
                          <a:spcPts val="0"/>
                        </a:spcAft>
                        <a:buNone/>
                      </a:pPr>
                      <a:r>
                        <a:rPr lang="en-US" sz="1200" dirty="0">
                          <a:latin typeface="Georgia" panose="02040502050405020303" pitchFamily="18" charset="0"/>
                        </a:rPr>
                        <a:t>A Lightweight CNN for Real-time Bearing Fault Diagnosis on Edge Devices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IEEE Internet of Things Journal, 2021</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CWRU Bearing, IMS Bearing</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Compressed CNN model with 95% parameter reduction while maintaining 92% accuracy, suitable for Raspberry Pi deployment</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Accuracy drops significantly with noisy field data</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2581860087"/>
                  </a:ext>
                </a:extLst>
              </a:tr>
              <a:tr h="1338354">
                <a:tc>
                  <a:txBody>
                    <a:bodyPr/>
                    <a:lstStyle/>
                    <a:p>
                      <a:pPr marL="0" marR="0" lvl="0" indent="0" algn="l" rtl="0">
                        <a:spcBef>
                          <a:spcPts val="0"/>
                        </a:spcBef>
                        <a:spcAft>
                          <a:spcPts val="0"/>
                        </a:spcAft>
                        <a:buNone/>
                      </a:pPr>
                      <a:r>
                        <a:rPr lang="en-US" sz="1200" dirty="0">
                          <a:latin typeface="Georgia" panose="02040502050405020303" pitchFamily="18" charset="0"/>
                        </a:rPr>
                        <a:t>Multi-sensor Data Fusion for Improved Fault Detection in Rotating Machinery</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Measurement, 2020</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NASA Turbofan, Wind Turbine SCADA</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Fusion of vibration, thermal, and acoustic signals using late fusion strategy, improves F1-score by 8%</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Requires complex synchronization of multi-rate sensor data</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775715772"/>
                  </a:ext>
                </a:extLst>
              </a:tr>
              <a:tr h="1338354">
                <a:tc>
                  <a:txBody>
                    <a:bodyPr/>
                    <a:lstStyle/>
                    <a:p>
                      <a:pPr marL="0" marR="0" lvl="0" indent="0" algn="l" rtl="0">
                        <a:spcBef>
                          <a:spcPts val="0"/>
                        </a:spcBef>
                        <a:spcAft>
                          <a:spcPts val="0"/>
                        </a:spcAft>
                        <a:buNone/>
                      </a:pPr>
                      <a:r>
                        <a:rPr lang="en-US" sz="1200" dirty="0">
                          <a:latin typeface="Georgia" panose="02040502050405020303" pitchFamily="18" charset="0"/>
                        </a:rPr>
                        <a:t>Condition-Based Maintenance Using Reinforcement Learning for Optimal Scheduling</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IEEE Transactions on Automation Science and Engineering, 2021</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Synthetic maintenance logs, NASA data</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RL agent learns optimal maintenance scheduling policies, reduces downtime by 22% compared to threshold-based methods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Requires extensive simulation environment for training</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3879564341"/>
                  </a:ext>
                </a:extLst>
              </a:tr>
              <a:tr h="1159908">
                <a:tc>
                  <a:txBody>
                    <a:bodyPr/>
                    <a:lstStyle/>
                    <a:p>
                      <a:pPr marL="0" marR="0" lvl="0" indent="0" algn="l" rtl="0">
                        <a:spcBef>
                          <a:spcPts val="0"/>
                        </a:spcBef>
                        <a:spcAft>
                          <a:spcPts val="0"/>
                        </a:spcAft>
                        <a:buNone/>
                      </a:pPr>
                      <a:r>
                        <a:rPr lang="en-US" sz="1200" dirty="0">
                          <a:latin typeface="Georgia" panose="02040502050405020303" pitchFamily="18" charset="0"/>
                        </a:rPr>
                        <a:t>An Attention-based Bidirectional LSTM for Simultaneous Fault Diagnosis and Prognostics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Reliability Engineering &amp; System Safety, 2022</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NASA C-MAPSS, Aircraft Engine Data</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Single model for both fault classification and RUL prediction, attention mechanism identifies critical time steps</a:t>
                      </a:r>
                      <a:endParaRPr sz="1200" dirty="0">
                        <a:latin typeface="Georgia" panose="02040502050405020303"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Georgia" panose="02040502050405020303" pitchFamily="18" charset="0"/>
                        </a:rPr>
                        <a:t>Model size large (50M+ parameters), unsuitable for edge deployment</a:t>
                      </a:r>
                      <a:endParaRPr sz="1200" dirty="0">
                        <a:latin typeface="Georgia" panose="02040502050405020303" pitchFamily="18" charset="0"/>
                      </a:endParaRPr>
                    </a:p>
                  </a:txBody>
                  <a:tcPr marL="91450" marR="91450" marT="45725" marB="45725"/>
                </a:tc>
                <a:extLst>
                  <a:ext uri="{0D108BD9-81ED-4DB2-BD59-A6C34878D82A}">
                    <a16:rowId xmlns:a16="http://schemas.microsoft.com/office/drawing/2014/main" val="834485257"/>
                  </a:ext>
                </a:extLst>
              </a:tr>
            </a:tbl>
          </a:graphicData>
        </a:graphic>
      </p:graphicFrame>
    </p:spTree>
    <p:extLst>
      <p:ext uri="{BB962C8B-B14F-4D97-AF65-F5344CB8AC3E}">
        <p14:creationId xmlns:p14="http://schemas.microsoft.com/office/powerpoint/2010/main" val="1095542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Challenges in Existing Systems</a:t>
            </a:r>
            <a:endParaRPr dirty="0">
              <a:latin typeface="Georgia" panose="02040502050405020303" pitchFamily="18" charset="0"/>
            </a:endParaRPr>
          </a:p>
        </p:txBody>
      </p:sp>
      <p:sp>
        <p:nvSpPr>
          <p:cNvPr id="116" name="Google Shape;116;p5"/>
          <p:cNvSpPr txBox="1">
            <a:spLocks noGrp="1"/>
          </p:cNvSpPr>
          <p:nvPr>
            <p:ph idx="1"/>
          </p:nvPr>
        </p:nvSpPr>
        <p:spPr>
          <a:xfrm>
            <a:off x="628650" y="1825624"/>
            <a:ext cx="7886700" cy="4667249"/>
          </a:xfrm>
          <a:prstGeom prst="rect">
            <a:avLst/>
          </a:prstGeom>
          <a:noFill/>
          <a:ln>
            <a:noFill/>
          </a:ln>
        </p:spPr>
        <p:txBody>
          <a:bodyPr spcFirstLastPara="1" wrap="square" lIns="91425" tIns="45700" rIns="91425" bIns="45700" anchor="t" anchorCtr="0">
            <a:normAutofit lnSpcReduction="10000"/>
          </a:bodyPr>
          <a:lstStyle/>
          <a:p>
            <a:pPr marL="546100" lvl="0" indent="-342900" algn="l" rtl="0">
              <a:spcBef>
                <a:spcPts val="0"/>
              </a:spcBef>
              <a:spcAft>
                <a:spcPts val="0"/>
              </a:spcAft>
              <a:buClr>
                <a:schemeClr val="dk1"/>
              </a:buClr>
              <a:buSzPct val="100000"/>
              <a:buFont typeface="Wingdings" panose="05000000000000000000" pitchFamily="2" charset="2"/>
              <a:buChar char="§"/>
            </a:pPr>
            <a:r>
              <a:rPr lang="en-US" sz="2200" b="1" dirty="0">
                <a:latin typeface="Georgia" panose="02040502050405020303" pitchFamily="18" charset="0"/>
              </a:rPr>
              <a:t>Technical Challenges: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Data Imbalance: Faulty data &lt; Normal operation data</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Multivariate Time Series: 20+ sensor signals with different sampling rates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Concept Drift: Machine behavior changes over lifetime</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Noisy Labels: Ground truth uncertainty in real-world data</a:t>
            </a:r>
          </a:p>
          <a:p>
            <a:pPr marL="946150" lvl="1" indent="-285750">
              <a:spcBef>
                <a:spcPts val="0"/>
              </a:spcBef>
              <a:buSzPct val="100000"/>
              <a:buFont typeface="Wingdings" panose="05000000000000000000" pitchFamily="2" charset="2"/>
              <a:buChar char="§"/>
            </a:pPr>
            <a:endParaRPr lang="en-US" sz="1800" dirty="0">
              <a:latin typeface="Georgia" panose="02040502050405020303" pitchFamily="18" charset="0"/>
            </a:endParaRPr>
          </a:p>
          <a:p>
            <a:pPr marL="546100" indent="-342900">
              <a:spcBef>
                <a:spcPts val="0"/>
              </a:spcBef>
              <a:buSzPct val="100000"/>
              <a:buFont typeface="Wingdings" panose="05000000000000000000" pitchFamily="2" charset="2"/>
              <a:buChar char="§"/>
            </a:pPr>
            <a:r>
              <a:rPr lang="en-US" sz="2200" b="1" dirty="0">
                <a:latin typeface="Georgia" panose="02040502050405020303" pitchFamily="18" charset="0"/>
              </a:rPr>
              <a:t>Methodological Limitations: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Black-box Models: Engineers don't trust unexplained predictions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Computational Cost: Heavy models are unsuitable for deployment</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Generalization: Models trained on lab data fail in field conditions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Multi-step Prediction: Most methods predict only the next time step</a:t>
            </a:r>
          </a:p>
          <a:p>
            <a:pPr marL="946150" lvl="1" indent="-285750">
              <a:spcBef>
                <a:spcPts val="0"/>
              </a:spcBef>
              <a:buSzPct val="100000"/>
              <a:buFont typeface="Wingdings" panose="05000000000000000000" pitchFamily="2" charset="2"/>
              <a:buChar char="§"/>
            </a:pPr>
            <a:endParaRPr lang="en-US" sz="1800" dirty="0">
              <a:latin typeface="Georgia" panose="02040502050405020303" pitchFamily="18" charset="0"/>
            </a:endParaRPr>
          </a:p>
          <a:p>
            <a:pPr marL="546100" indent="-342900">
              <a:spcBef>
                <a:spcPts val="0"/>
              </a:spcBef>
              <a:buSzPct val="100000"/>
              <a:buFont typeface="Wingdings" panose="05000000000000000000" pitchFamily="2" charset="2"/>
              <a:buChar char="§"/>
            </a:pPr>
            <a:r>
              <a:rPr lang="en-US" sz="2200" b="1" dirty="0">
                <a:latin typeface="Georgia" panose="02040502050405020303" pitchFamily="18" charset="0"/>
              </a:rPr>
              <a:t>Implementation Barriers: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Integration with legacy SCADA systems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Real-time inference latency requirements</a:t>
            </a:r>
          </a:p>
          <a:p>
            <a:pPr marL="946150" lvl="1" indent="-285750">
              <a:spcBef>
                <a:spcPts val="0"/>
              </a:spcBef>
              <a:buSzPct val="100000"/>
              <a:buFont typeface="Wingdings" panose="05000000000000000000" pitchFamily="2" charset="2"/>
              <a:buChar char="§"/>
            </a:pPr>
            <a:r>
              <a:rPr lang="en-US" sz="1800" dirty="0">
                <a:latin typeface="Georgia" panose="02040502050405020303" pitchFamily="18" charset="0"/>
              </a:rPr>
              <a:t>Lack of standardized validation protocols</a:t>
            </a:r>
            <a:endParaRPr sz="1800" dirty="0">
              <a:latin typeface="Georgia" panose="020405020504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628650" y="365127"/>
            <a:ext cx="7886700" cy="67004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Project Objectives</a:t>
            </a:r>
            <a:endParaRPr dirty="0">
              <a:latin typeface="Georgia" panose="02040502050405020303" pitchFamily="18" charset="0"/>
            </a:endParaRPr>
          </a:p>
        </p:txBody>
      </p:sp>
      <p:sp>
        <p:nvSpPr>
          <p:cNvPr id="123" name="Google Shape;123;p6"/>
          <p:cNvSpPr txBox="1">
            <a:spLocks noGrp="1"/>
          </p:cNvSpPr>
          <p:nvPr>
            <p:ph idx="1"/>
          </p:nvPr>
        </p:nvSpPr>
        <p:spPr>
          <a:xfrm>
            <a:off x="628650" y="1253331"/>
            <a:ext cx="7886700" cy="5239542"/>
          </a:xfrm>
          <a:prstGeom prst="rect">
            <a:avLst/>
          </a:prstGeom>
          <a:noFill/>
          <a:ln>
            <a:noFill/>
          </a:ln>
        </p:spPr>
        <p:txBody>
          <a:bodyPr spcFirstLastPara="1" wrap="square" lIns="91425" tIns="45700" rIns="91425" bIns="45700" anchor="t" anchorCtr="0">
            <a:noAutofit/>
          </a:bodyPr>
          <a:lstStyle/>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Develop a hybrid CNN-LSTM architecture with an attention mechanism for induction motor fault</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Acquire and preprocess the Fault Induction Motor Dataset, handling missing values and class imbalance using SMOTE</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Engineer comprehensive features from raw sensor data, including time-domain statistics, frequency-domain characteristics, and wavelet-based features</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Train the deep learning model with advanced techniques, including early stopping, learning rate scheduling, and class weighting</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Achieve &gt;95% accuracy in classifying six motor conditions: normal, broken rotor bar, stator fault, bearing fault, voltage unbalance, and overload</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Build an interactive real-time monitoring dashboard with live vibration analysis and fault prediction</a:t>
            </a:r>
          </a:p>
          <a:p>
            <a:pPr marL="546100" lvl="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Create a fault database and maintenance logging system for tracking historical issues and scheduling interventions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a:spLocks noGrp="1"/>
          </p:cNvSpPr>
          <p:nvPr>
            <p:ph type="title"/>
          </p:nvPr>
        </p:nvSpPr>
        <p:spPr>
          <a:xfrm>
            <a:off x="821521" y="214290"/>
            <a:ext cx="7500958" cy="57934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 Innovation</a:t>
            </a:r>
          </a:p>
        </p:txBody>
      </p:sp>
      <p:sp>
        <p:nvSpPr>
          <p:cNvPr id="130" name="Google Shape;130;p7"/>
          <p:cNvSpPr txBox="1">
            <a:spLocks noGrp="1"/>
          </p:cNvSpPr>
          <p:nvPr>
            <p:ph idx="1"/>
          </p:nvPr>
        </p:nvSpPr>
        <p:spPr>
          <a:xfrm>
            <a:off x="202721" y="931653"/>
            <a:ext cx="8738557" cy="5650301"/>
          </a:xfrm>
          <a:prstGeom prst="rect">
            <a:avLst/>
          </a:prstGeom>
          <a:noFill/>
          <a:ln>
            <a:noFill/>
          </a:ln>
        </p:spPr>
        <p:txBody>
          <a:bodyPr spcFirstLastPara="1" wrap="square" lIns="91425" tIns="45700" rIns="91425" bIns="45700" anchor="t" anchorCtr="0">
            <a:noAutofit/>
          </a:bodyPr>
          <a:lstStyle/>
          <a:p>
            <a:pPr marL="717550" lvl="0" indent="-342900" algn="l" rtl="0">
              <a:spcBef>
                <a:spcPts val="0"/>
              </a:spcBef>
              <a:spcAft>
                <a:spcPts val="0"/>
              </a:spcAft>
              <a:buClr>
                <a:schemeClr val="dk1"/>
              </a:buClr>
              <a:buSzPct val="100000"/>
              <a:buFont typeface="Wingdings" panose="05000000000000000000" pitchFamily="2" charset="2"/>
              <a:buChar char="§"/>
            </a:pPr>
            <a:r>
              <a:rPr lang="en-US" dirty="0">
                <a:latin typeface="Georgia" panose="02040502050405020303" pitchFamily="18" charset="0"/>
              </a:rPr>
              <a:t>A novel deep learning architecture combining parallel CNN branches (kernel sizes 3, 5, and 7) for multi-scale feature extraction with bidirectional LSTMs for temporal modeling and an attention mechanism that automatically focuses on critical signal segments—significantly improving both classification accuracy (98.6%) and model interpretability.</a:t>
            </a:r>
          </a:p>
          <a:p>
            <a:pPr marL="717550" indent="-342900">
              <a:spcBef>
                <a:spcPts val="0"/>
              </a:spcBef>
              <a:buSzPct val="100000"/>
              <a:buFont typeface="Wingdings" panose="05000000000000000000" pitchFamily="2" charset="2"/>
              <a:buChar char="§"/>
            </a:pPr>
            <a:r>
              <a:rPr lang="en-US" dirty="0">
                <a:latin typeface="Georgia" panose="02040502050405020303" pitchFamily="18" charset="0"/>
              </a:rPr>
              <a:t>An industry-ready deployment ecosystem featuring live vibration visualization, frequency spectrum analysis, and an interactive fault simulation engine that generates realistic signals for all six motor conditions, enabling instant prediction updates with confidence scores and maintenance alerts—transforming the research model into a practical monitoring tool.	</a:t>
            </a:r>
          </a:p>
          <a:p>
            <a:pPr marL="717550" indent="-342900">
              <a:spcBef>
                <a:spcPts val="0"/>
              </a:spcBef>
              <a:buSzPct val="100000"/>
              <a:buFont typeface="Wingdings" panose="05000000000000000000" pitchFamily="2" charset="2"/>
              <a:buChar char="§"/>
            </a:pPr>
            <a:r>
              <a:rPr lang="en-US" dirty="0">
                <a:latin typeface="Georgia" panose="02040502050405020303" pitchFamily="18" charset="0"/>
              </a:rPr>
              <a:t>A comprehensive solution combining fault detection with actionable maintenance planning, including an automated fault database with severity tracking, a recommendation engine for scheduling interventions, cost analysis dashboards comparing preventive vs. corrective approaches, and trend analysis to identify recurring equipment issues—bridging the gap between diagnosis and decision-making.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9"/>
          <p:cNvSpPr txBox="1">
            <a:spLocks noGrp="1"/>
          </p:cNvSpPr>
          <p:nvPr>
            <p:ph type="title"/>
          </p:nvPr>
        </p:nvSpPr>
        <p:spPr>
          <a:xfrm>
            <a:off x="628650" y="158092"/>
            <a:ext cx="78867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 Scope and Applications</a:t>
            </a:r>
            <a:endParaRPr dirty="0">
              <a:latin typeface="Georgia" panose="02040502050405020303" pitchFamily="18" charset="0"/>
            </a:endParaRPr>
          </a:p>
        </p:txBody>
      </p:sp>
      <p:sp>
        <p:nvSpPr>
          <p:cNvPr id="137" name="Google Shape;137;p9"/>
          <p:cNvSpPr txBox="1">
            <a:spLocks noGrp="1"/>
          </p:cNvSpPr>
          <p:nvPr>
            <p:ph idx="1"/>
          </p:nvPr>
        </p:nvSpPr>
        <p:spPr>
          <a:xfrm>
            <a:off x="628650" y="1242204"/>
            <a:ext cx="7886700" cy="5382883"/>
          </a:xfrm>
          <a:prstGeom prst="rect">
            <a:avLst/>
          </a:prstGeom>
          <a:noFill/>
          <a:ln>
            <a:noFill/>
          </a:ln>
        </p:spPr>
        <p:txBody>
          <a:bodyPr spcFirstLastPara="1" wrap="square" lIns="91425" tIns="45700" rIns="91425" bIns="45700" anchor="t" anchorCtr="0">
            <a:normAutofit fontScale="85000" lnSpcReduction="20000"/>
          </a:bodyPr>
          <a:lstStyle/>
          <a:p>
            <a:pPr marL="717550" lvl="0" indent="-342900" algn="l" rtl="0">
              <a:spcBef>
                <a:spcPts val="0"/>
              </a:spcBef>
              <a:spcAft>
                <a:spcPts val="0"/>
              </a:spcAft>
              <a:buClr>
                <a:schemeClr val="dk1"/>
              </a:buClr>
              <a:buSzPct val="100000"/>
              <a:buFont typeface="Wingdings" panose="05000000000000000000" pitchFamily="2" charset="2"/>
              <a:buChar char="§"/>
            </a:pPr>
            <a:r>
              <a:rPr lang="en-US" sz="2400" b="1" dirty="0">
                <a:latin typeface="Georgia" panose="02040502050405020303" pitchFamily="18" charset="0"/>
              </a:rPr>
              <a:t>Scope:</a:t>
            </a:r>
          </a:p>
          <a:p>
            <a:pPr marL="717550" lvl="0" indent="-342900" algn="l" rtl="0">
              <a:spcBef>
                <a:spcPts val="0"/>
              </a:spcBef>
              <a:spcAft>
                <a:spcPts val="0"/>
              </a:spcAft>
              <a:buClr>
                <a:schemeClr val="dk1"/>
              </a:buClr>
              <a:buSzPct val="100000"/>
              <a:buFont typeface="Wingdings" panose="05000000000000000000" pitchFamily="2" charset="2"/>
              <a:buChar char="§"/>
            </a:pPr>
            <a:endParaRPr lang="en-US" sz="2400" b="1" dirty="0">
              <a:latin typeface="Georgia" panose="02040502050405020303" pitchFamily="18" charset="0"/>
            </a:endParaRP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Machinery: Induction motors, rotating electrical machines, motor-driven systems</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Industries: Manufacturing, Industrial automation, HVAC, Oil &amp; gas, Mining</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Fault Types: Broken rotor bars, Stator faults, Bearing faults, Voltage unbalance, Overload conditions</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Data Sources: Motor current signature analysis, Vibration signals, Thermal imaging, Multi-sensor fusion</a:t>
            </a:r>
          </a:p>
          <a:p>
            <a:pPr marL="1117600" lvl="1" indent="-285750">
              <a:spcBef>
                <a:spcPts val="0"/>
              </a:spcBef>
              <a:buSzPct val="100000"/>
              <a:buFont typeface="Wingdings" panose="05000000000000000000" pitchFamily="2" charset="2"/>
              <a:buChar char="§"/>
            </a:pPr>
            <a:endParaRPr lang="en-US" sz="1900" dirty="0">
              <a:latin typeface="Georgia" panose="02040502050405020303" pitchFamily="18" charset="0"/>
            </a:endParaRPr>
          </a:p>
          <a:p>
            <a:pPr marL="717550" indent="-342900">
              <a:spcBef>
                <a:spcPts val="0"/>
              </a:spcBef>
              <a:buSzPct val="100000"/>
              <a:buFont typeface="Wingdings" panose="05000000000000000000" pitchFamily="2" charset="2"/>
              <a:buChar char="§"/>
            </a:pPr>
            <a:r>
              <a:rPr lang="en-US" sz="2400" b="1" dirty="0">
                <a:latin typeface="Georgia" panose="02040502050405020303" pitchFamily="18" charset="0"/>
              </a:rPr>
              <a:t>Applications</a:t>
            </a:r>
            <a:r>
              <a:rPr lang="en-US" sz="2200" b="1" dirty="0">
                <a:latin typeface="Georgia" panose="02040502050405020303" pitchFamily="18" charset="0"/>
              </a:rPr>
              <a:t>:</a:t>
            </a:r>
          </a:p>
          <a:p>
            <a:pPr marL="717550" indent="-342900">
              <a:spcBef>
                <a:spcPts val="0"/>
              </a:spcBef>
              <a:buSzPct val="100000"/>
              <a:buFont typeface="Wingdings" panose="05000000000000000000" pitchFamily="2" charset="2"/>
              <a:buChar char="§"/>
            </a:pPr>
            <a:endParaRPr lang="en-US" sz="2200" b="1" dirty="0">
              <a:latin typeface="Georgia" panose="02040502050405020303" pitchFamily="18" charset="0"/>
            </a:endParaRP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Manufacturing Plants: Predict motor failures 2-3 weeks before breakdown, preventing production line stoppages</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HVAC Systems: Detect early-stage bearing and rotor faults in ventilation and cooling systems</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Conveyor Systems: Monitor critical drive motors in mining and material handling operations</a:t>
            </a:r>
          </a:p>
          <a:p>
            <a:pPr marL="1117600" lvl="1" indent="-285750">
              <a:spcBef>
                <a:spcPts val="0"/>
              </a:spcBef>
              <a:buSzPct val="100000"/>
              <a:buFont typeface="Wingdings" panose="05000000000000000000" pitchFamily="2" charset="2"/>
              <a:buChar char="§"/>
            </a:pPr>
            <a:endParaRPr lang="en-US" sz="1900" dirty="0">
              <a:latin typeface="Georgia" panose="02040502050405020303" pitchFamily="18" charset="0"/>
            </a:endParaRPr>
          </a:p>
          <a:p>
            <a:pPr marL="831850" indent="-342900">
              <a:spcBef>
                <a:spcPts val="0"/>
              </a:spcBef>
              <a:buSzPct val="100000"/>
              <a:buFont typeface="Wingdings" panose="05000000000000000000" pitchFamily="2" charset="2"/>
              <a:buChar char="§"/>
            </a:pPr>
            <a:r>
              <a:rPr lang="en-US" sz="2400" b="1" dirty="0">
                <a:latin typeface="Georgia" panose="02040502050405020303" pitchFamily="18" charset="0"/>
              </a:rPr>
              <a:t>Potential Impact:</a:t>
            </a:r>
          </a:p>
          <a:p>
            <a:pPr marL="831850" indent="-342900">
              <a:spcBef>
                <a:spcPts val="0"/>
              </a:spcBef>
              <a:buSzPct val="100000"/>
              <a:buFont typeface="Wingdings" panose="05000000000000000000" pitchFamily="2" charset="2"/>
              <a:buChar char="§"/>
            </a:pPr>
            <a:endParaRPr lang="en-US" sz="2400" b="1" dirty="0">
              <a:latin typeface="Georgia" panose="02040502050405020303" pitchFamily="18" charset="0"/>
            </a:endParaRP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25-35% reduction in motor maintenance costs through condition-based monitoring</a:t>
            </a:r>
          </a:p>
          <a:p>
            <a:pPr marL="1117600" lvl="1" indent="-285750">
              <a:spcBef>
                <a:spcPts val="0"/>
              </a:spcBef>
              <a:buSzPct val="100000"/>
              <a:buFont typeface="Wingdings" panose="05000000000000000000" pitchFamily="2" charset="2"/>
              <a:buChar char="§"/>
            </a:pPr>
            <a:r>
              <a:rPr lang="en-US" sz="2100" dirty="0">
                <a:latin typeface="Georgia" panose="02040502050405020303" pitchFamily="18" charset="0"/>
              </a:rPr>
              <a:t>Enhanced workplace safety by preventing catastrophic motor failures and fire hazards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A3F0003-647E-37FC-E45B-1F59B9F44024}"/>
              </a:ext>
            </a:extLst>
          </p:cNvPr>
          <p:cNvPicPr>
            <a:picLocks noGrp="1" noChangeAspect="1"/>
          </p:cNvPicPr>
          <p:nvPr>
            <p:ph idx="1"/>
          </p:nvPr>
        </p:nvPicPr>
        <p:blipFill>
          <a:blip r:embed="rId3"/>
          <a:stretch>
            <a:fillRect/>
          </a:stretch>
        </p:blipFill>
        <p:spPr>
          <a:xfrm>
            <a:off x="737558" y="530524"/>
            <a:ext cx="7668883" cy="57969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1035294" y="266012"/>
            <a:ext cx="6900882" cy="76915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Proposed Modules</a:t>
            </a:r>
            <a:endParaRPr dirty="0">
              <a:latin typeface="Georgia" panose="02040502050405020303" pitchFamily="18" charset="0"/>
            </a:endParaRPr>
          </a:p>
        </p:txBody>
      </p:sp>
      <p:sp>
        <p:nvSpPr>
          <p:cNvPr id="151" name="Google Shape;151;p10"/>
          <p:cNvSpPr txBox="1">
            <a:spLocks noGrp="1"/>
          </p:cNvSpPr>
          <p:nvPr>
            <p:ph idx="1"/>
          </p:nvPr>
        </p:nvSpPr>
        <p:spPr>
          <a:xfrm>
            <a:off x="197266" y="1257507"/>
            <a:ext cx="8749467" cy="5334481"/>
          </a:xfrm>
          <a:prstGeom prst="rect">
            <a:avLst/>
          </a:prstGeom>
          <a:noFill/>
          <a:ln>
            <a:noFill/>
          </a:ln>
        </p:spPr>
        <p:txBody>
          <a:bodyPr spcFirstLastPara="1" wrap="square" lIns="91425" tIns="45700" rIns="91425" bIns="45700" anchor="t" anchorCtr="0">
            <a:normAutofit/>
          </a:bodyPr>
          <a:lstStyle/>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Data Acquisition Module: </a:t>
            </a:r>
            <a:r>
              <a:rPr lang="en-US" sz="1800" dirty="0">
                <a:latin typeface="Georgia" panose="02040502050405020303" pitchFamily="18" charset="0"/>
              </a:rPr>
              <a:t>Downloads dataset via </a:t>
            </a:r>
            <a:r>
              <a:rPr lang="en-US" sz="1800" dirty="0" err="1">
                <a:latin typeface="Georgia" panose="02040502050405020303" pitchFamily="18" charset="0"/>
              </a:rPr>
              <a:t>KaggleHub</a:t>
            </a:r>
            <a:r>
              <a:rPr lang="en-US" sz="1800" dirty="0">
                <a:latin typeface="Georgia" panose="02040502050405020303" pitchFamily="18" charset="0"/>
              </a:rPr>
              <a:t> API and loads CSV files into pandas </a:t>
            </a:r>
            <a:r>
              <a:rPr lang="en-US" sz="1800" dirty="0" err="1">
                <a:latin typeface="Georgia" panose="02040502050405020303" pitchFamily="18" charset="0"/>
              </a:rPr>
              <a:t>DataFrames</a:t>
            </a:r>
            <a:r>
              <a:rPr lang="en-US" sz="1800" dirty="0">
                <a:latin typeface="Georgia" panose="02040502050405020303" pitchFamily="18" charset="0"/>
              </a:rPr>
              <a:t> with condition labels.</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Preprocessing Module: </a:t>
            </a:r>
            <a:r>
              <a:rPr lang="en-US" sz="1800" dirty="0">
                <a:latin typeface="Georgia" panose="02040502050405020303" pitchFamily="18" charset="0"/>
              </a:rPr>
              <a:t>Handles missing values via median/mode imputation, encodes labels using </a:t>
            </a:r>
            <a:r>
              <a:rPr lang="en-US" sz="1800" dirty="0" err="1">
                <a:latin typeface="Georgia" panose="02040502050405020303" pitchFamily="18" charset="0"/>
              </a:rPr>
              <a:t>LabelEncoder</a:t>
            </a:r>
            <a:r>
              <a:rPr lang="en-US" sz="1800" dirty="0">
                <a:latin typeface="Georgia" panose="02040502050405020303" pitchFamily="18" charset="0"/>
              </a:rPr>
              <a:t>, balances classes using SMOTE, and normalizes features with </a:t>
            </a:r>
            <a:r>
              <a:rPr lang="en-US" sz="1800" dirty="0" err="1">
                <a:latin typeface="Georgia" panose="02040502050405020303" pitchFamily="18" charset="0"/>
              </a:rPr>
              <a:t>StandardScaler</a:t>
            </a:r>
            <a:r>
              <a:rPr lang="en-US" sz="1800" dirty="0">
                <a:latin typeface="Georgia" panose="02040502050405020303" pitchFamily="18" charset="0"/>
              </a:rPr>
              <a:t>.</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CNN Module: </a:t>
            </a:r>
            <a:r>
              <a:rPr lang="en-US" sz="1800" dirty="0">
                <a:latin typeface="Georgia" panose="02040502050405020303" pitchFamily="18" charset="0"/>
              </a:rPr>
              <a:t>Uses parallel 1D convolutional layers with kernel sizes 3, 5, and 7 to extract multi-scale spatial features with batch normalization and max pooling.</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LSTM Module: </a:t>
            </a:r>
            <a:r>
              <a:rPr lang="en-US" sz="1800" dirty="0">
                <a:latin typeface="Georgia" panose="02040502050405020303" pitchFamily="18" charset="0"/>
              </a:rPr>
              <a:t>Implements bidirectional LSTM layers (128→64→32 units) with dropout to capture temporal dependencies in both forward and backward directions.</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Training Module: </a:t>
            </a:r>
            <a:r>
              <a:rPr lang="en-US" sz="1800" dirty="0">
                <a:latin typeface="Georgia" panose="02040502050405020303" pitchFamily="18" charset="0"/>
              </a:rPr>
              <a:t>Uses Adam optimizer, categorical cross-entropy loss, early stopping (patience=15), learning rate reduction on plateau, and class weighting for imbalance.</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Evaluation Module: </a:t>
            </a:r>
            <a:r>
              <a:rPr lang="en-US" sz="1800" dirty="0">
                <a:latin typeface="Georgia" panose="02040502050405020303" pitchFamily="18" charset="0"/>
              </a:rPr>
              <a:t>Computes accuracy, precision, recall, F1-score, confusion matrix, ROC curves with AUC, and feature importance via permutation.</a:t>
            </a:r>
          </a:p>
          <a:p>
            <a:pPr marL="660400" lvl="0" indent="-285750" algn="l" rtl="0">
              <a:spcBef>
                <a:spcPts val="0"/>
              </a:spcBef>
              <a:spcAft>
                <a:spcPts val="0"/>
              </a:spcAft>
              <a:buClr>
                <a:schemeClr val="dk1"/>
              </a:buClr>
              <a:buSzPct val="100000"/>
              <a:buFont typeface="Wingdings" panose="05000000000000000000" pitchFamily="2" charset="2"/>
              <a:buChar char="§"/>
            </a:pPr>
            <a:r>
              <a:rPr lang="en-US" sz="1800" b="1" dirty="0">
                <a:latin typeface="Georgia" panose="02040502050405020303" pitchFamily="18" charset="0"/>
              </a:rPr>
              <a:t>Database Module: </a:t>
            </a:r>
            <a:r>
              <a:rPr lang="en-US" sz="1800" dirty="0">
                <a:latin typeface="Georgia" panose="02040502050405020303" pitchFamily="18" charset="0"/>
              </a:rPr>
              <a:t>Tracks faults with timestamps and severity, logs maintenance activities with costs, and generates trend analysis and recommendations.</a:t>
            </a:r>
            <a:endParaRPr sz="1800"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707AC3F9-3DE8-2CD7-EEB5-3E7FCFB1DA86}"/>
              </a:ext>
            </a:extLst>
          </p:cNvPr>
          <p:cNvPicPr>
            <a:picLocks noGrp="1" noChangeAspect="1"/>
          </p:cNvPicPr>
          <p:nvPr>
            <p:ph idx="1"/>
          </p:nvPr>
        </p:nvPicPr>
        <p:blipFill>
          <a:blip r:embed="rId3"/>
          <a:stretch>
            <a:fillRect/>
          </a:stretch>
        </p:blipFill>
        <p:spPr>
          <a:xfrm>
            <a:off x="457200" y="621033"/>
            <a:ext cx="8229600" cy="561593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5AE0F-3C1A-E894-157D-E37064131B79}"/>
              </a:ext>
            </a:extLst>
          </p:cNvPr>
          <p:cNvSpPr>
            <a:spLocks noGrp="1"/>
          </p:cNvSpPr>
          <p:nvPr>
            <p:ph type="title"/>
          </p:nvPr>
        </p:nvSpPr>
        <p:spPr>
          <a:xfrm>
            <a:off x="628650" y="365126"/>
            <a:ext cx="7886700" cy="695923"/>
          </a:xfrm>
        </p:spPr>
        <p:txBody>
          <a:bodyPr/>
          <a:lstStyle/>
          <a:p>
            <a:pPr algn="ctr"/>
            <a:r>
              <a:rPr lang="en-US" dirty="0">
                <a:latin typeface="Georgia" panose="02040502050405020303" pitchFamily="18" charset="0"/>
              </a:rPr>
              <a:t>Dashboard</a:t>
            </a:r>
          </a:p>
        </p:txBody>
      </p:sp>
      <p:pic>
        <p:nvPicPr>
          <p:cNvPr id="5" name="Content Placeholder 4">
            <a:extLst>
              <a:ext uri="{FF2B5EF4-FFF2-40B4-BE49-F238E27FC236}">
                <a16:creationId xmlns:a16="http://schemas.microsoft.com/office/drawing/2014/main" id="{D23DE87A-8B52-4E9C-43F3-98F00A3A4FFE}"/>
              </a:ext>
            </a:extLst>
          </p:cNvPr>
          <p:cNvPicPr>
            <a:picLocks noGrp="1" noChangeAspect="1"/>
          </p:cNvPicPr>
          <p:nvPr>
            <p:ph idx="1"/>
          </p:nvPr>
        </p:nvPicPr>
        <p:blipFill>
          <a:blip r:embed="rId2"/>
          <a:stretch>
            <a:fillRect/>
          </a:stretch>
        </p:blipFill>
        <p:spPr>
          <a:xfrm>
            <a:off x="628650" y="1259457"/>
            <a:ext cx="7886700" cy="5055079"/>
          </a:xfrm>
          <a:prstGeom prst="rect">
            <a:avLst/>
          </a:prstGeom>
        </p:spPr>
      </p:pic>
    </p:spTree>
    <p:extLst>
      <p:ext uri="{BB962C8B-B14F-4D97-AF65-F5344CB8AC3E}">
        <p14:creationId xmlns:p14="http://schemas.microsoft.com/office/powerpoint/2010/main" val="3748377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1EFDEF-1092-0E69-3B4C-64D372E3086F}"/>
              </a:ext>
            </a:extLst>
          </p:cNvPr>
          <p:cNvPicPr>
            <a:picLocks noGrp="1" noChangeAspect="1"/>
          </p:cNvPicPr>
          <p:nvPr>
            <p:ph idx="1"/>
          </p:nvPr>
        </p:nvPicPr>
        <p:blipFill>
          <a:blip r:embed="rId2"/>
          <a:stretch>
            <a:fillRect/>
          </a:stretch>
        </p:blipFill>
        <p:spPr>
          <a:xfrm>
            <a:off x="628650" y="571153"/>
            <a:ext cx="7886700" cy="5715694"/>
          </a:xfrm>
          <a:prstGeom prst="rect">
            <a:avLst/>
          </a:prstGeom>
        </p:spPr>
      </p:pic>
    </p:spTree>
    <p:extLst>
      <p:ext uri="{BB962C8B-B14F-4D97-AF65-F5344CB8AC3E}">
        <p14:creationId xmlns:p14="http://schemas.microsoft.com/office/powerpoint/2010/main" val="1185032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7AB554-F78D-69B4-CF21-66DD74A3CDF0}"/>
              </a:ext>
            </a:extLst>
          </p:cNvPr>
          <p:cNvPicPr>
            <a:picLocks noGrp="1" noChangeAspect="1"/>
          </p:cNvPicPr>
          <p:nvPr>
            <p:ph idx="1"/>
          </p:nvPr>
        </p:nvPicPr>
        <p:blipFill>
          <a:blip r:embed="rId2"/>
          <a:stretch>
            <a:fillRect/>
          </a:stretch>
        </p:blipFill>
        <p:spPr>
          <a:xfrm>
            <a:off x="628650" y="736338"/>
            <a:ext cx="7886700" cy="5385323"/>
          </a:xfrm>
          <a:prstGeom prst="rect">
            <a:avLst/>
          </a:prstGeom>
        </p:spPr>
      </p:pic>
    </p:spTree>
    <p:extLst>
      <p:ext uri="{BB962C8B-B14F-4D97-AF65-F5344CB8AC3E}">
        <p14:creationId xmlns:p14="http://schemas.microsoft.com/office/powerpoint/2010/main" val="3387860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628650" y="382379"/>
            <a:ext cx="78867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Conclusion</a:t>
            </a:r>
            <a:endParaRPr dirty="0">
              <a:latin typeface="Georgia" panose="02040502050405020303" pitchFamily="18" charset="0"/>
            </a:endParaRPr>
          </a:p>
        </p:txBody>
      </p:sp>
      <p:sp>
        <p:nvSpPr>
          <p:cNvPr id="165" name="Google Shape;165;p12"/>
          <p:cNvSpPr txBox="1">
            <a:spLocks noGrp="1"/>
          </p:cNvSpPr>
          <p:nvPr>
            <p:ph idx="1"/>
          </p:nvPr>
        </p:nvSpPr>
        <p:spPr>
          <a:xfrm>
            <a:off x="628650" y="1423358"/>
            <a:ext cx="7886700" cy="4736352"/>
          </a:xfrm>
          <a:prstGeom prst="rect">
            <a:avLst/>
          </a:prstGeom>
          <a:noFill/>
          <a:ln>
            <a:noFill/>
          </a:ln>
        </p:spPr>
        <p:txBody>
          <a:bodyPr spcFirstLastPara="1" wrap="square" lIns="91425" tIns="45700" rIns="91425" bIns="45700" anchor="t" anchorCtr="0">
            <a:normAutofit lnSpcReduction="10000"/>
          </a:bodyPr>
          <a:lstStyle/>
          <a:p>
            <a:pPr marL="717550" lvl="0" indent="-342900" algn="l" rtl="0">
              <a:spcBef>
                <a:spcPts val="0"/>
              </a:spcBef>
              <a:spcAft>
                <a:spcPts val="0"/>
              </a:spcAft>
              <a:buClr>
                <a:schemeClr val="dk1"/>
              </a:buClr>
              <a:buSzPct val="100000"/>
              <a:buFont typeface="Wingdings" panose="05000000000000000000" pitchFamily="2" charset="2"/>
              <a:buChar char="§"/>
            </a:pPr>
            <a:r>
              <a:rPr lang="en-US" sz="2200" b="1" dirty="0">
                <a:latin typeface="Georgia" panose="02040502050405020303" pitchFamily="18" charset="0"/>
              </a:rPr>
              <a:t>Novel Architecture:</a:t>
            </a:r>
          </a:p>
          <a:p>
            <a:pPr marL="1117600" lvl="1" indent="-285750">
              <a:spcBef>
                <a:spcPts val="0"/>
              </a:spcBef>
              <a:buSzPct val="100000"/>
              <a:buFont typeface="Wingdings" panose="05000000000000000000" pitchFamily="2" charset="2"/>
              <a:buChar char="§"/>
            </a:pPr>
            <a:r>
              <a:rPr lang="en-US" sz="1800" dirty="0">
                <a:latin typeface="Georgia" panose="02040502050405020303" pitchFamily="18" charset="0"/>
              </a:rPr>
              <a:t>First application of a multi-scale attention mechanism in induction motor fault diagnosis, combining parallel CNN branches with bidirectional LSTMs</a:t>
            </a:r>
          </a:p>
          <a:p>
            <a:pPr marL="774700" indent="-285750">
              <a:spcBef>
                <a:spcPts val="0"/>
              </a:spcBef>
              <a:buSzPct val="100000"/>
              <a:buFont typeface="Wingdings" panose="05000000000000000000" pitchFamily="2" charset="2"/>
              <a:buChar char="§"/>
            </a:pPr>
            <a:r>
              <a:rPr lang="en-US" sz="2200" b="1" dirty="0">
                <a:latin typeface="Georgia" panose="02040502050405020303" pitchFamily="18" charset="0"/>
              </a:rPr>
              <a:t>Industry-Ready Solution:</a:t>
            </a:r>
          </a:p>
          <a:p>
            <a:pPr marL="1117600" lvl="1" indent="-285750">
              <a:spcBef>
                <a:spcPts val="0"/>
              </a:spcBef>
              <a:buSzPct val="100000"/>
              <a:buFont typeface="Wingdings" panose="05000000000000000000" pitchFamily="2" charset="2"/>
              <a:buChar char="§"/>
            </a:pPr>
            <a:r>
              <a:rPr lang="en-US" sz="1800" dirty="0">
                <a:latin typeface="Georgia" panose="02040502050405020303" pitchFamily="18" charset="0"/>
              </a:rPr>
              <a:t>Transformed a research model into a practical monitoring tool with real-time visualization and interactive controls</a:t>
            </a:r>
          </a:p>
          <a:p>
            <a:pPr marL="717550" indent="-342900">
              <a:spcBef>
                <a:spcPts val="0"/>
              </a:spcBef>
              <a:buSzPct val="100000"/>
              <a:buFont typeface="Wingdings" panose="05000000000000000000" pitchFamily="2" charset="2"/>
              <a:buChar char="§"/>
            </a:pPr>
            <a:r>
              <a:rPr lang="en-US" sz="2200" b="1" dirty="0">
                <a:latin typeface="Georgia" panose="02040502050405020303" pitchFamily="18" charset="0"/>
              </a:rPr>
              <a:t>End-to-End System:</a:t>
            </a:r>
          </a:p>
          <a:p>
            <a:pPr marL="1117600" lvl="1" indent="-285750">
              <a:spcBef>
                <a:spcPts val="0"/>
              </a:spcBef>
              <a:buSzPct val="100000"/>
              <a:buFont typeface="Wingdings" panose="05000000000000000000" pitchFamily="2" charset="2"/>
              <a:buChar char="§"/>
            </a:pPr>
            <a:r>
              <a:rPr lang="en-US" sz="1800" dirty="0">
                <a:latin typeface="Georgia" panose="02040502050405020303" pitchFamily="18" charset="0"/>
              </a:rPr>
              <a:t>Delivered a complete ecosystem from data preprocessing to maintenance recommendations, bridging the gap between detection and action</a:t>
            </a:r>
          </a:p>
          <a:p>
            <a:pPr marL="831850" lvl="1" indent="0">
              <a:spcBef>
                <a:spcPts val="0"/>
              </a:spcBef>
              <a:buSzPct val="100000"/>
              <a:buNone/>
            </a:pPr>
            <a:endParaRPr lang="en-US" dirty="0">
              <a:latin typeface="Georgia" panose="02040502050405020303" pitchFamily="18" charset="0"/>
            </a:endParaRPr>
          </a:p>
          <a:p>
            <a:pPr marL="774700" indent="-285750">
              <a:spcBef>
                <a:spcPts val="0"/>
              </a:spcBef>
              <a:buSzPct val="100000"/>
              <a:buFont typeface="Wingdings" panose="05000000000000000000" pitchFamily="2" charset="2"/>
              <a:buChar char="§"/>
            </a:pPr>
            <a:r>
              <a:rPr lang="en-US" dirty="0">
                <a:latin typeface="Georgia" panose="02040502050405020303" pitchFamily="18" charset="0"/>
              </a:rPr>
              <a:t>This project demonstrates that hybrid deep learning architectures combined with comprehensive feature engineering can achieve exceptional accuracy in industrial fault diagnosis. The integration of a real-time monitoring dashboard and maintenance management system transforms academic research into a practical tool with immediate industrial applicability.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5"/>
          <p:cNvSpPr txBox="1">
            <a:spLocks noGrp="1"/>
          </p:cNvSpPr>
          <p:nvPr>
            <p:ph type="title"/>
          </p:nvPr>
        </p:nvSpPr>
        <p:spPr>
          <a:xfrm>
            <a:off x="628650" y="321994"/>
            <a:ext cx="78867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latin typeface="Georgia" panose="02040502050405020303" pitchFamily="18" charset="0"/>
              </a:rPr>
              <a:t>References</a:t>
            </a:r>
            <a:endParaRPr dirty="0">
              <a:latin typeface="Georgia" panose="02040502050405020303" pitchFamily="18" charset="0"/>
            </a:endParaRPr>
          </a:p>
        </p:txBody>
      </p:sp>
      <p:sp>
        <p:nvSpPr>
          <p:cNvPr id="179" name="Google Shape;179;p15"/>
          <p:cNvSpPr txBox="1">
            <a:spLocks noGrp="1"/>
          </p:cNvSpPr>
          <p:nvPr>
            <p:ph idx="1"/>
          </p:nvPr>
        </p:nvSpPr>
        <p:spPr>
          <a:xfrm>
            <a:off x="628650" y="1825624"/>
            <a:ext cx="7886700" cy="4911605"/>
          </a:xfrm>
          <a:prstGeom prst="rect">
            <a:avLst/>
          </a:prstGeom>
          <a:noFill/>
          <a:ln>
            <a:noFill/>
          </a:ln>
        </p:spPr>
        <p:txBody>
          <a:bodyPr spcFirstLastPara="1" wrap="square" lIns="91425" tIns="45700" rIns="91425" bIns="45700" anchor="t" anchorCtr="0">
            <a:normAutofit/>
          </a:bodyPr>
          <a:lstStyle/>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[1] Lei, Y., Yang, B., Jiang, X., Jia, F., Li, N., &amp; Nandi, A. K. (2020). "Applications of machine learning to machine fault diagnosis: A review and roadmap." Mechanical Systems and Signal Processing, 138, 106587.DOI: 10.1016/j.ymssp.2019.106587</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[2] Zhao, R., Yan, R., Chen, Z., Mao, K., Wang, P., &amp; Gao, R. X. (2019). "Deep learning and its applications to machine health monitoring." Mechanical Systems and Signal Processing, 115, 213-237.DOI: 10.1016/j.ymssp.2018.05.050</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[3] Zhang, W., Li, C., Peng, G., Chen, Y., &amp; Zhang, Z. (2021). "A hybrid deep learning model for remaining useful life prediction in predictive maintenance." IEEE Internet of Things Journal, 8(17), 13275-13286.DOI: 10.1109/JIOT.2021.3068855</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[5] Saxena, A., Goebel, K., Simon, D., &amp; Eklund, N. (2008). "Damage propagation modeling for aircraft engine run-to-failure simulation." In 2008 International Conference on Prognostics and Health Management (pp. 1-9). IEEE.DOI: 10.1109/PHM.2008.4711414</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[6] </a:t>
            </a:r>
            <a:r>
              <a:rPr lang="en-US" sz="1500" i="1" dirty="0" err="1">
                <a:latin typeface="Georgia" panose="02040502050405020303" pitchFamily="18" charset="0"/>
              </a:rPr>
              <a:t>Ramasso</a:t>
            </a:r>
            <a:r>
              <a:rPr lang="en-US" sz="1500" i="1" dirty="0">
                <a:latin typeface="Georgia" panose="02040502050405020303" pitchFamily="18" charset="0"/>
              </a:rPr>
              <a:t>, E., &amp; Saxena, A. (2014). "Performance benchmarking and analysis of prognostic methods for CMAPSS datasets." International Journal of Prognostics and Health Management, 5(2), 1-15.</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[7] Lundberg, S. M., &amp; Lee, S. I. (2017). "A unified approach to interpreting model predictions." Advances in Neural Information Processing Systems, 30, 4765-4774.</a:t>
            </a:r>
          </a:p>
          <a:p>
            <a:pPr marL="546100" lvl="0" algn="l" rtl="0">
              <a:spcBef>
                <a:spcPts val="0"/>
              </a:spcBef>
              <a:spcAft>
                <a:spcPts val="0"/>
              </a:spcAft>
              <a:buClr>
                <a:schemeClr val="dk1"/>
              </a:buClr>
              <a:buSzPct val="100000"/>
              <a:buFont typeface="Wingdings" panose="05000000000000000000" pitchFamily="2" charset="2"/>
              <a:buChar char="§"/>
            </a:pPr>
            <a:r>
              <a:rPr lang="en-US" sz="1500" i="1" dirty="0">
                <a:latin typeface="Georgia" panose="02040502050405020303" pitchFamily="18" charset="0"/>
              </a:rPr>
              <a:t>[8]UK Government's Energy Technology List and ABB research. “electric motor systems account for approximately 70% of total industrial electricity consumption”.</a:t>
            </a:r>
            <a:endParaRPr sz="1500" i="1" dirty="0">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A976D2-62A4-9D81-A6A7-C6C3682E97BB}"/>
              </a:ext>
            </a:extLst>
          </p:cNvPr>
          <p:cNvSpPr>
            <a:spLocks noGrp="1"/>
          </p:cNvSpPr>
          <p:nvPr>
            <p:ph idx="1"/>
          </p:nvPr>
        </p:nvSpPr>
        <p:spPr>
          <a:xfrm>
            <a:off x="628650" y="621102"/>
            <a:ext cx="7886700" cy="5555861"/>
          </a:xfrm>
        </p:spPr>
        <p:txBody>
          <a:bodyPr>
            <a:normAutofit/>
          </a:bodyPr>
          <a:lstStyle/>
          <a:p>
            <a:pPr marL="546100" marR="0" lvl="0" indent="-171450" algn="l" defTabSz="685800" rtl="0" eaLnBrk="1" fontAlgn="auto" latinLnBrk="0" hangingPunct="1">
              <a:lnSpc>
                <a:spcPct val="90000"/>
              </a:lnSpc>
              <a:spcBef>
                <a:spcPts val="0"/>
              </a:spcBef>
              <a:spcAft>
                <a:spcPts val="0"/>
              </a:spcAft>
              <a:buClr>
                <a:prstClr val="black"/>
              </a:buClr>
              <a:buSzPct val="100000"/>
              <a:buFont typeface="Wingdings" panose="05000000000000000000" pitchFamily="2" charset="2"/>
              <a:buChar char="§"/>
              <a:tabLst/>
              <a:defRPr/>
            </a:pPr>
            <a:r>
              <a:rPr kumimoji="0" lang="en-US" sz="15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[9] Plant Engineering 2017 Maintenance Study(2017). "The leading cause of unscheduled downtime within respondents’ facilities remains aging equipment (42%)." Unscheduled downtime, 38, 1587.DOI: 10.1906/j.ymssp.2017.106507</a:t>
            </a:r>
          </a:p>
          <a:p>
            <a:pPr marL="546100" marR="0" lvl="0" indent="-171450" algn="l" defTabSz="685800" rtl="0" eaLnBrk="1" fontAlgn="auto" latinLnBrk="0" hangingPunct="1">
              <a:lnSpc>
                <a:spcPct val="90000"/>
              </a:lnSpc>
              <a:spcBef>
                <a:spcPts val="0"/>
              </a:spcBef>
              <a:spcAft>
                <a:spcPts val="0"/>
              </a:spcAft>
              <a:buClr>
                <a:prstClr val="black"/>
              </a:buClr>
              <a:buSzPct val="100000"/>
              <a:buFont typeface="Wingdings" panose="05000000000000000000" pitchFamily="2" charset="2"/>
              <a:buChar char="§"/>
              <a:tabLst/>
              <a:defRPr/>
            </a:pPr>
            <a:r>
              <a:rPr kumimoji="0" lang="en-US" sz="15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[10] Siemens/</a:t>
            </a:r>
            <a:r>
              <a:rPr kumimoji="0" lang="en-US" sz="1500" b="0" i="1" u="none" strike="noStrike" kern="1200" cap="none" spc="0" normalizeH="0" baseline="0" noProof="0" dirty="0" err="1">
                <a:ln>
                  <a:noFill/>
                </a:ln>
                <a:solidFill>
                  <a:prstClr val="black"/>
                </a:solidFill>
                <a:effectLst/>
                <a:uLnTx/>
                <a:uFillTx/>
                <a:latin typeface="Georgia" panose="02040502050405020303" pitchFamily="18" charset="0"/>
                <a:ea typeface="+mn-ea"/>
                <a:cs typeface="+mn-cs"/>
              </a:rPr>
              <a:t>Senseye</a:t>
            </a:r>
            <a:r>
              <a:rPr kumimoji="0" lang="en-US" sz="15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‘True Cost of Downtime.’(2024). “The average cost of unplanned downtime for a manufacturing facility is approximately $260,000 per hour.”</a:t>
            </a:r>
          </a:p>
          <a:p>
            <a:pPr marL="546100" marR="0" lvl="0" indent="-171450" algn="l" defTabSz="685800" rtl="0" eaLnBrk="1" fontAlgn="auto" latinLnBrk="0" hangingPunct="1">
              <a:lnSpc>
                <a:spcPct val="90000"/>
              </a:lnSpc>
              <a:spcBef>
                <a:spcPts val="0"/>
              </a:spcBef>
              <a:spcAft>
                <a:spcPts val="0"/>
              </a:spcAft>
              <a:buClr>
                <a:prstClr val="black"/>
              </a:buClr>
              <a:buSzPct val="100000"/>
              <a:buFont typeface="Wingdings" panose="05000000000000000000" pitchFamily="2" charset="2"/>
              <a:buChar char="§"/>
              <a:tabLst/>
              <a:defRPr/>
            </a:pPr>
            <a:r>
              <a:rPr lang="en-US" sz="1500" i="1" dirty="0">
                <a:solidFill>
                  <a:prstClr val="black"/>
                </a:solidFill>
                <a:latin typeface="Georgia" panose="02040502050405020303" pitchFamily="18" charset="0"/>
              </a:rPr>
              <a:t>[11] U.S. Department of Energy. “Condition-based maintenance strategies typically reduce maintenance costs by 25–30% and spare parts inventory carrying costs by up to 35%.”</a:t>
            </a:r>
            <a:endParaRPr kumimoji="0" lang="en-US" sz="15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endParaRPr lang="en-US" dirty="0"/>
          </a:p>
        </p:txBody>
      </p:sp>
    </p:spTree>
    <p:extLst>
      <p:ext uri="{BB962C8B-B14F-4D97-AF65-F5344CB8AC3E}">
        <p14:creationId xmlns:p14="http://schemas.microsoft.com/office/powerpoint/2010/main" val="1561609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idx="1"/>
          </p:nvPr>
        </p:nvSpPr>
        <p:spPr>
          <a:xfrm>
            <a:off x="457200" y="714356"/>
            <a:ext cx="8229600" cy="5411807"/>
          </a:xfrm>
          <a:prstGeom prst="rect">
            <a:avLst/>
          </a:prstGeom>
          <a:noFill/>
          <a:ln>
            <a:noFill/>
          </a:ln>
        </p:spPr>
        <p:txBody>
          <a:bodyPr spcFirstLastPara="1" wrap="square" lIns="91425" tIns="45700" rIns="91425" bIns="45700" anchor="t" anchorCtr="0">
            <a:normAutofit/>
          </a:bodyPr>
          <a:lstStyle/>
          <a:p>
            <a:pPr marL="342900" lvl="0" indent="-342900" algn="ctr" rtl="0">
              <a:spcBef>
                <a:spcPts val="0"/>
              </a:spcBef>
              <a:spcAft>
                <a:spcPts val="0"/>
              </a:spcAft>
              <a:buClr>
                <a:schemeClr val="dk1"/>
              </a:buClr>
              <a:buSzPts val="8800"/>
              <a:buNone/>
            </a:pPr>
            <a:endParaRPr sz="8800" dirty="0">
              <a:latin typeface="Georgia" panose="02040502050405020303" pitchFamily="18" charset="0"/>
            </a:endParaRPr>
          </a:p>
          <a:p>
            <a:pPr marL="342900" lvl="0" indent="-342900" algn="ctr" rtl="0">
              <a:spcBef>
                <a:spcPts val="1760"/>
              </a:spcBef>
              <a:spcAft>
                <a:spcPts val="0"/>
              </a:spcAft>
              <a:buClr>
                <a:schemeClr val="dk1"/>
              </a:buClr>
              <a:buSzPts val="8800"/>
              <a:buNone/>
            </a:pPr>
            <a:r>
              <a:rPr lang="en-IN" sz="8800" dirty="0">
                <a:latin typeface="Georgia" panose="02040502050405020303" pitchFamily="18" charset="0"/>
              </a:rPr>
              <a:t>Thank You</a:t>
            </a:r>
            <a:endParaRPr sz="8800" dirty="0">
              <a:latin typeface="Georgia" panose="020405020504050203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2340</TotalTime>
  <Words>2191</Words>
  <Application>Microsoft Office PowerPoint</Application>
  <PresentationFormat>On-screen Show (4:3)</PresentationFormat>
  <Paragraphs>198</Paragraphs>
  <Slides>20</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Georgia</vt:lpstr>
      <vt:lpstr>Wingdings</vt:lpstr>
      <vt:lpstr>Office Theme</vt:lpstr>
      <vt:lpstr>Deep Learning-Based Predictive Maintenance for Rotating Machinery using a Hybrid CNN-LSTM Architecture</vt:lpstr>
      <vt:lpstr>Abstract</vt:lpstr>
      <vt:lpstr>Introduction</vt:lpstr>
      <vt:lpstr>Motivation</vt:lpstr>
      <vt:lpstr>Literature Review</vt:lpstr>
      <vt:lpstr>PowerPoint Presentation</vt:lpstr>
      <vt:lpstr>Challenges in Existing Systems</vt:lpstr>
      <vt:lpstr>Project Objectives</vt:lpstr>
      <vt:lpstr> Innovation</vt:lpstr>
      <vt:lpstr> Scope and Applications</vt:lpstr>
      <vt:lpstr>PowerPoint Presentation</vt:lpstr>
      <vt:lpstr>Proposed Modules</vt:lpstr>
      <vt:lpstr>PowerPoint Presentation</vt:lpstr>
      <vt:lpstr>Dashboard</vt:lpstr>
      <vt:lpstr>PowerPoint Presentation</vt:lpstr>
      <vt:lpstr>PowerPoint Presentation</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Sornalakshmi</dc:creator>
  <cp:lastModifiedBy>jackson jacob</cp:lastModifiedBy>
  <cp:revision>8</cp:revision>
  <dcterms:created xsi:type="dcterms:W3CDTF">2022-11-10T13:44:23Z</dcterms:created>
  <dcterms:modified xsi:type="dcterms:W3CDTF">2026-05-09T04:26:54Z</dcterms:modified>
</cp:coreProperties>
</file>